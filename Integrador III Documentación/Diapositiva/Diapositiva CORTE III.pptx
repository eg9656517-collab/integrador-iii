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9" r:id="rId2"/>
    <p:sldId id="263" r:id="rId3"/>
    <p:sldId id="262" r:id="rId4"/>
    <p:sldId id="260" r:id="rId5"/>
    <p:sldId id="273" r:id="rId6"/>
    <p:sldId id="264" r:id="rId7"/>
    <p:sldId id="265" r:id="rId8"/>
    <p:sldId id="272" r:id="rId9"/>
    <p:sldId id="268" r:id="rId10"/>
    <p:sldId id="269" r:id="rId11"/>
    <p:sldId id="271" r:id="rId12"/>
    <p:sldId id="270" r:id="rId13"/>
    <p:sldId id="266" r:id="rId14"/>
    <p:sldId id="267" r:id="rId15"/>
    <p:sldId id="258" r:id="rId16"/>
  </p:sldIdLst>
  <p:sldSz cx="12192000" cy="6858000"/>
  <p:notesSz cx="6950075" cy="92360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7EB2CB1-6CC0-52DE-E79B-219F242B7F79}" name="Francisco Llanes" initials="F" userId="S::fllanes@unan.edu.ni::5aee38f5-860e-4bfb-9e87-62f4c259df1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74473"/>
    <a:srgbClr val="FAB718"/>
    <a:srgbClr val="0D98D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Estilo claro 2 - Acento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Estilo claro 1 - Acent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7" d="100"/>
          <a:sy n="67" d="100"/>
        </p:scale>
        <p:origin x="83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1699" cy="463408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l">
              <a:defRPr sz="1200"/>
            </a:lvl1pPr>
          </a:lstStyle>
          <a:p>
            <a:endParaRPr lang="es-NI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936768" y="0"/>
            <a:ext cx="3011699" cy="463408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r">
              <a:defRPr sz="1200"/>
            </a:lvl1pPr>
          </a:lstStyle>
          <a:p>
            <a:fld id="{E096D6C2-88C4-41EE-9ECB-BAD832CF12AB}" type="datetimeFigureOut">
              <a:rPr lang="es-NI" smtClean="0"/>
              <a:t>20/6/2026</a:t>
            </a:fld>
            <a:endParaRPr lang="es-NI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703263" y="1154113"/>
            <a:ext cx="5543550" cy="31178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492" tIns="46246" rIns="92492" bIns="46246" rtlCol="0" anchor="ctr"/>
          <a:lstStyle/>
          <a:p>
            <a:endParaRPr lang="es-NI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95008" y="4444861"/>
            <a:ext cx="5560060" cy="3636705"/>
          </a:xfrm>
          <a:prstGeom prst="rect">
            <a:avLst/>
          </a:prstGeom>
        </p:spPr>
        <p:txBody>
          <a:bodyPr vert="horz" lIns="92492" tIns="46246" rIns="92492" bIns="46246" rtlCol="0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772669"/>
            <a:ext cx="3011699" cy="463407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l">
              <a:defRPr sz="1200"/>
            </a:lvl1pPr>
          </a:lstStyle>
          <a:p>
            <a:endParaRPr lang="es-NI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936768" y="8772669"/>
            <a:ext cx="3011699" cy="463407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r">
              <a:defRPr sz="1200"/>
            </a:lvl1pPr>
          </a:lstStyle>
          <a:p>
            <a:fld id="{B8644883-4F96-4370-91F7-EC4CCCC9A888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23726846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419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4883-4F96-4370-91F7-EC4CCCC9A888}" type="slidenum">
              <a:rPr lang="es-NI" smtClean="0"/>
              <a:t>14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32766281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82" y="1789"/>
            <a:ext cx="12188817" cy="6856210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244282" y="1840523"/>
            <a:ext cx="5231026" cy="2149351"/>
          </a:xfrm>
        </p:spPr>
        <p:txBody>
          <a:bodyPr anchor="b">
            <a:noAutofit/>
          </a:bodyPr>
          <a:lstStyle>
            <a:lvl1pPr algn="l">
              <a:defRPr sz="4400" b="1">
                <a:solidFill>
                  <a:srgbClr val="0D98D7"/>
                </a:solidFill>
                <a:latin typeface="Tw Cen MT" panose="020B0602020104020603" pitchFamily="34" charset="77"/>
                <a:cs typeface="Courier New" panose="02070309020205020404" pitchFamily="49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6244281" y="4242486"/>
            <a:ext cx="5231026" cy="1181450"/>
          </a:xfrm>
        </p:spPr>
        <p:txBody>
          <a:bodyPr/>
          <a:lstStyle>
            <a:lvl1pPr marL="0" indent="0" algn="l">
              <a:buNone/>
              <a:defRPr sz="2400">
                <a:solidFill>
                  <a:srgbClr val="174473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54116-522A-43FA-A07B-AF425C3CADE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2D79B-CE85-4CB9-8BC4-26C9F168BC9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7434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01" y="1856"/>
            <a:ext cx="12185521" cy="6854355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 b="1">
                <a:solidFill>
                  <a:srgbClr val="0D98D7"/>
                </a:solidFill>
                <a:latin typeface="Tw Cen MT" panose="020B0602020104020603" pitchFamily="34" charset="77"/>
                <a:cs typeface="Courier New" panose="02070309020205020404" pitchFamily="49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rgbClr val="174473"/>
                </a:solidFill>
                <a:latin typeface="Calibri cuerpo"/>
              </a:defRPr>
            </a:lvl1pPr>
            <a:lvl2pPr>
              <a:defRPr>
                <a:solidFill>
                  <a:srgbClr val="174473"/>
                </a:solidFill>
                <a:latin typeface="Calibri cuerpo"/>
              </a:defRPr>
            </a:lvl2pPr>
            <a:lvl3pPr>
              <a:defRPr>
                <a:solidFill>
                  <a:srgbClr val="174473"/>
                </a:solidFill>
                <a:latin typeface="Calibri cuerpo"/>
              </a:defRPr>
            </a:lvl3pPr>
            <a:lvl4pPr>
              <a:defRPr>
                <a:solidFill>
                  <a:srgbClr val="174473"/>
                </a:solidFill>
                <a:latin typeface="Calibri cuerpo"/>
              </a:defRPr>
            </a:lvl4pPr>
            <a:lvl5pPr>
              <a:defRPr>
                <a:solidFill>
                  <a:srgbClr val="174473"/>
                </a:solidFill>
                <a:latin typeface="Calibri cuerpo"/>
              </a:defRPr>
            </a:lvl5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54116-522A-43FA-A07B-AF425C3CADE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2D79B-CE85-4CB9-8BC4-26C9F168BC9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328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54116-522A-43FA-A07B-AF425C3CADE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2D79B-CE85-4CB9-8BC4-26C9F168BC9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4683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54116-522A-43FA-A07B-AF425C3CADE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2D79B-CE85-4CB9-8BC4-26C9F168BC9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5920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54116-522A-43FA-A07B-AF425C3CADE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2D79B-CE85-4CB9-8BC4-26C9F168BC9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325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54116-522A-43FA-A07B-AF425C3CADE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2D79B-CE85-4CB9-8BC4-26C9F168BC9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666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54116-522A-43FA-A07B-AF425C3CADE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2D79B-CE85-4CB9-8BC4-26C9F168BC9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4225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54116-522A-43FA-A07B-AF425C3CADE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2D79B-CE85-4CB9-8BC4-26C9F168BC9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0001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54116-522A-43FA-A07B-AF425C3CADE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2D79B-CE85-4CB9-8BC4-26C9F168BC9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6528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54116-522A-43FA-A07B-AF425C3CADE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2D79B-CE85-4CB9-8BC4-26C9F168BC9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6595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54116-522A-43FA-A07B-AF425C3CADE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2D79B-CE85-4CB9-8BC4-26C9F168BC9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4082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854116-522A-43FA-A07B-AF425C3CADE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32D79B-CE85-4CB9-8BC4-26C9F168BC9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970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eg9656517-collab/Integrador-III" TargetMode="Externa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D632C14E-9F26-467C-947B-67A5B7253205}"/>
              </a:ext>
            </a:extLst>
          </p:cNvPr>
          <p:cNvSpPr txBox="1"/>
          <p:nvPr/>
        </p:nvSpPr>
        <p:spPr>
          <a:xfrm>
            <a:off x="2877312" y="655314"/>
            <a:ext cx="6096000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419" sz="20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CENTRO UNIVERSITARIO REGIONAL DE CHONTALES</a:t>
            </a:r>
            <a:endParaRPr lang="es-419" b="0" dirty="0">
              <a:effectLst/>
            </a:endParaRPr>
          </a:p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419" sz="1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“Cornelio Silva Argüello”</a:t>
            </a:r>
            <a:endParaRPr lang="es-419" b="0" dirty="0">
              <a:effectLst/>
            </a:endParaRPr>
          </a:p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419" sz="1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UNAN Managua, CUR Chontales</a:t>
            </a:r>
            <a:endParaRPr lang="es-419" b="0" dirty="0">
              <a:effectLst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36058AE1-00EF-4DE2-ABEB-EDE1768D7DF0}"/>
              </a:ext>
            </a:extLst>
          </p:cNvPr>
          <p:cNvSpPr txBox="1"/>
          <p:nvPr/>
        </p:nvSpPr>
        <p:spPr>
          <a:xfrm>
            <a:off x="4986528" y="2385167"/>
            <a:ext cx="68640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800"/>
              </a:spcAft>
            </a:pPr>
            <a:r>
              <a:rPr lang="es-419" sz="1800" b="1" i="0" u="none" strike="noStrike" dirty="0">
                <a:solidFill>
                  <a:schemeClr val="accent6">
                    <a:lumMod val="50000"/>
                  </a:schemeClr>
                </a:solidFill>
                <a:effectLst/>
                <a:latin typeface="Times New Roman" panose="02020603050405020304" pitchFamily="18" charset="0"/>
              </a:rPr>
              <a:t>Desarrollo de un sistema de escritorio para la gestión de préstamos Bibliotecarios en el Instituto </a:t>
            </a:r>
            <a:r>
              <a:rPr lang="es-419" sz="1800" b="1" i="1" u="none" strike="noStrike" dirty="0">
                <a:solidFill>
                  <a:schemeClr val="accent6"/>
                </a:solidFill>
                <a:effectLst/>
                <a:latin typeface="Times New Roman" panose="02020603050405020304" pitchFamily="18" charset="0"/>
              </a:rPr>
              <a:t>“San Juan Bautista” Cuapa</a:t>
            </a:r>
            <a:r>
              <a:rPr lang="es-419" sz="1800" b="1" i="0" u="none" strike="noStrike" dirty="0">
                <a:solidFill>
                  <a:schemeClr val="accent6"/>
                </a:solidFill>
                <a:effectLst/>
                <a:latin typeface="Times New Roman" panose="02020603050405020304" pitchFamily="18" charset="0"/>
              </a:rPr>
              <a:t>.</a:t>
            </a:r>
            <a:endParaRPr lang="es-419" sz="1800" b="1" dirty="0">
              <a:solidFill>
                <a:schemeClr val="accent6"/>
              </a:solidFill>
              <a:effectLst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81889ED-8BB2-4DCC-A5AA-9FE6C80EB7D4}"/>
              </a:ext>
            </a:extLst>
          </p:cNvPr>
          <p:cNvSpPr txBox="1"/>
          <p:nvPr/>
        </p:nvSpPr>
        <p:spPr>
          <a:xfrm>
            <a:off x="8729472" y="3104755"/>
            <a:ext cx="1987296" cy="815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6899"/>
              </a:lnSpc>
              <a:spcBef>
                <a:spcPct val="0"/>
              </a:spcBef>
            </a:pPr>
            <a:r>
              <a:rPr lang="en-US" sz="1800" b="1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INTEGRANTES</a:t>
            </a:r>
            <a:r>
              <a:rPr lang="en-US" sz="1800" b="1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: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387C998B-D326-4AF2-8515-4304EED0344C}"/>
              </a:ext>
            </a:extLst>
          </p:cNvPr>
          <p:cNvSpPr txBox="1"/>
          <p:nvPr/>
        </p:nvSpPr>
        <p:spPr>
          <a:xfrm>
            <a:off x="7193280" y="3921645"/>
            <a:ext cx="504748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Alexis Vargas</a:t>
            </a:r>
          </a:p>
          <a:p>
            <a:pPr algn="ctr"/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                      Andersson Duvaniel Gómez</a:t>
            </a:r>
            <a:endParaRPr lang="en-US" sz="1800" dirty="0">
              <a:solidFill>
                <a:srgbClr val="000000"/>
              </a:solidFill>
              <a:latin typeface="Times New Roman" panose="02020603050405020304" pitchFamily="18" charset="0"/>
              <a:ea typeface="Open Sauce"/>
              <a:cs typeface="Times New Roman" panose="02020603050405020304" pitchFamily="18" charset="0"/>
              <a:sym typeface="Open Sauce"/>
            </a:endParaRPr>
          </a:p>
          <a:p>
            <a:pPr algn="ctr"/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                             Eduardo Jesús Gudiel González</a:t>
            </a:r>
          </a:p>
          <a:p>
            <a:pPr algn="ctr"/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                       Francis Nallely Ayala Calero</a:t>
            </a:r>
          </a:p>
          <a:p>
            <a:pPr algn="ctr"/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               Francisco José Castillo</a:t>
            </a:r>
            <a:endParaRPr lang="es-41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668EF740-E088-4081-BB9B-9F09E758EA6F}"/>
              </a:ext>
            </a:extLst>
          </p:cNvPr>
          <p:cNvSpPr txBox="1"/>
          <p:nvPr/>
        </p:nvSpPr>
        <p:spPr>
          <a:xfrm>
            <a:off x="-438912" y="4637387"/>
            <a:ext cx="6096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419" sz="1050" b="1" i="1" u="none" strike="noStrike" dirty="0"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«2026: Por una Educación al Servicio del Pueblo, ¡Viva Sandino!»</a:t>
            </a:r>
            <a:endParaRPr lang="es-419" sz="1050" b="0" dirty="0">
              <a:effectLst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A62F633D-230D-4513-B7D3-EACEB42449A0}"/>
              </a:ext>
            </a:extLst>
          </p:cNvPr>
          <p:cNvSpPr txBox="1"/>
          <p:nvPr/>
        </p:nvSpPr>
        <p:spPr>
          <a:xfrm>
            <a:off x="9717024" y="5846531"/>
            <a:ext cx="27675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419" b="1" dirty="0">
                <a:solidFill>
                  <a:srgbClr val="000000"/>
                </a:solidFill>
                <a:latin typeface="Times New Roman" panose="02020603050405020304" pitchFamily="18" charset="0"/>
              </a:rPr>
              <a:t>20 </a:t>
            </a:r>
            <a:r>
              <a:rPr lang="es-419" sz="1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de </a:t>
            </a:r>
            <a:r>
              <a:rPr lang="es-419" b="1" dirty="0">
                <a:solidFill>
                  <a:srgbClr val="000000"/>
                </a:solidFill>
                <a:latin typeface="Times New Roman" panose="02020603050405020304" pitchFamily="18" charset="0"/>
              </a:rPr>
              <a:t>Junio</a:t>
            </a:r>
            <a:r>
              <a:rPr lang="es-419" sz="1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, 2026</a:t>
            </a:r>
            <a:endParaRPr lang="es-419" b="0" dirty="0">
              <a:effectLst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A23ABE42-D01B-4FD4-AB16-C2C5DD925E89}"/>
              </a:ext>
            </a:extLst>
          </p:cNvPr>
          <p:cNvSpPr txBox="1"/>
          <p:nvPr/>
        </p:nvSpPr>
        <p:spPr>
          <a:xfrm>
            <a:off x="5205984" y="3646570"/>
            <a:ext cx="3523488" cy="1856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>
              <a:spcBef>
                <a:spcPts val="0"/>
              </a:spcBef>
              <a:spcAft>
                <a:spcPts val="800"/>
              </a:spcAft>
            </a:pPr>
            <a:r>
              <a:rPr lang="es-419" sz="1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DOCENTES:</a:t>
            </a:r>
            <a:endParaRPr lang="es-419" b="0" dirty="0">
              <a:effectLst/>
            </a:endParaRP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419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José Jonathan Moreno Castro </a:t>
            </a: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419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Yesenia Sobeyba Téllez Gómez</a:t>
            </a: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419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María Jorleni Ríos Pérez </a:t>
            </a: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419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Isamar Bonilla</a:t>
            </a: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419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Miguel Matamoros</a:t>
            </a:r>
          </a:p>
        </p:txBody>
      </p:sp>
    </p:spTree>
    <p:extLst>
      <p:ext uri="{BB962C8B-B14F-4D97-AF65-F5344CB8AC3E}">
        <p14:creationId xmlns:p14="http://schemas.microsoft.com/office/powerpoint/2010/main" val="11405943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2CD094F-1AB3-3B9F-74E0-D11FA2B0EE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 rtl="0">
              <a:spcBef>
                <a:spcPts val="0"/>
              </a:spcBef>
              <a:spcAft>
                <a:spcPts val="800"/>
              </a:spcAft>
            </a:pPr>
            <a:r>
              <a:rPr lang="es-419" sz="2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Objetivo general:</a:t>
            </a:r>
            <a:r>
              <a:rPr lang="es-419" sz="2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Desarrollar un sistema de escritorio</a:t>
            </a:r>
          </a:p>
          <a:p>
            <a:pPr marL="0" indent="0" algn="just" rtl="0">
              <a:spcBef>
                <a:spcPts val="0"/>
              </a:spcBef>
              <a:spcAft>
                <a:spcPts val="800"/>
              </a:spcAft>
              <a:buNone/>
            </a:pPr>
            <a:r>
              <a:rPr lang="es-419" sz="2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para la gestión de préstamos de libros para una biblioteca</a:t>
            </a:r>
          </a:p>
          <a:p>
            <a:pPr marL="0" indent="0" algn="just" rtl="0">
              <a:spcBef>
                <a:spcPts val="0"/>
              </a:spcBef>
              <a:spcAft>
                <a:spcPts val="800"/>
              </a:spcAft>
              <a:buNone/>
            </a:pPr>
            <a:r>
              <a:rPr lang="es-419" sz="2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que permita registrar, controlar y administrar de manera </a:t>
            </a:r>
          </a:p>
          <a:p>
            <a:pPr marL="0" indent="0" algn="just" rtl="0">
              <a:spcBef>
                <a:spcPts val="0"/>
              </a:spcBef>
              <a:spcAft>
                <a:spcPts val="800"/>
              </a:spcAft>
              <a:buNone/>
            </a:pPr>
            <a:r>
              <a:rPr lang="es-419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419" sz="2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eficiente los préstamos y devoluciones de libros.</a:t>
            </a:r>
            <a:endParaRPr lang="es-419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s-MX" dirty="0"/>
          </a:p>
        </p:txBody>
      </p:sp>
      <p:sp>
        <p:nvSpPr>
          <p:cNvPr id="6" name="AutoShape 4">
            <a:extLst>
              <a:ext uri="{FF2B5EF4-FFF2-40B4-BE49-F238E27FC236}">
                <a16:creationId xmlns:a16="http://schemas.microsoft.com/office/drawing/2014/main" id="{53D64E89-5940-4983-B1E9-97CC5F6C0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2673096" cy="829691"/>
          </a:xfrm>
          <a:prstGeom prst="rect">
            <a:avLst/>
          </a:prstGeom>
          <a:solidFill>
            <a:srgbClr val="D2F4EB"/>
          </a:solidFill>
        </p:spPr>
        <p:txBody>
          <a:bodyPr/>
          <a:lstStyle/>
          <a:p>
            <a:r>
              <a:rPr lang="en-US" sz="4400" b="1" dirty="0">
                <a:solidFill>
                  <a:srgbClr val="404040"/>
                </a:solidFill>
                <a:latin typeface="Fira Sans Semi-Bold"/>
                <a:ea typeface="Fira Sans Semi-Bold"/>
                <a:cs typeface="Fira Sans Semi-Bold"/>
                <a:sym typeface="Fira Sans Semi-Bold"/>
              </a:rPr>
              <a:t>Objetivos</a:t>
            </a:r>
            <a:endParaRPr lang="es-419" dirty="0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B93E33CA-4CD6-4E2D-984A-961B79650C8E}"/>
              </a:ext>
            </a:extLst>
          </p:cNvPr>
          <p:cNvSpPr/>
          <p:nvPr/>
        </p:nvSpPr>
        <p:spPr>
          <a:xfrm rot="10800000">
            <a:off x="9342938" y="4028132"/>
            <a:ext cx="2849062" cy="2854252"/>
          </a:xfrm>
          <a:custGeom>
            <a:avLst/>
            <a:gdLst/>
            <a:ahLst/>
            <a:cxnLst/>
            <a:rect l="l" t="t" r="r" b="b"/>
            <a:pathLst>
              <a:path w="2849062" h="2854252">
                <a:moveTo>
                  <a:pt x="0" y="0"/>
                </a:moveTo>
                <a:lnTo>
                  <a:pt x="2849063" y="0"/>
                </a:lnTo>
                <a:lnTo>
                  <a:pt x="2849063" y="2854251"/>
                </a:lnTo>
                <a:lnTo>
                  <a:pt x="0" y="28542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38475405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Tabla 13">
            <a:extLst>
              <a:ext uri="{FF2B5EF4-FFF2-40B4-BE49-F238E27FC236}">
                <a16:creationId xmlns:a16="http://schemas.microsoft.com/office/drawing/2014/main" id="{7AF020E9-F0CE-43D1-A714-154F28B301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3092504"/>
              </p:ext>
            </p:extLst>
          </p:nvPr>
        </p:nvGraphicFramePr>
        <p:xfrm>
          <a:off x="4045761" y="926592"/>
          <a:ext cx="4100477" cy="5169408"/>
        </p:xfrm>
        <a:graphic>
          <a:graphicData uri="http://schemas.openxmlformats.org/drawingml/2006/table">
            <a:tbl>
              <a:tblPr/>
              <a:tblGrid>
                <a:gridCol w="400383">
                  <a:extLst>
                    <a:ext uri="{9D8B030D-6E8A-4147-A177-3AD203B41FA5}">
                      <a16:colId xmlns:a16="http://schemas.microsoft.com/office/drawing/2014/main" val="3479661676"/>
                    </a:ext>
                  </a:extLst>
                </a:gridCol>
                <a:gridCol w="1063087">
                  <a:extLst>
                    <a:ext uri="{9D8B030D-6E8A-4147-A177-3AD203B41FA5}">
                      <a16:colId xmlns:a16="http://schemas.microsoft.com/office/drawing/2014/main" val="3448446590"/>
                    </a:ext>
                  </a:extLst>
                </a:gridCol>
                <a:gridCol w="628188">
                  <a:extLst>
                    <a:ext uri="{9D8B030D-6E8A-4147-A177-3AD203B41FA5}">
                      <a16:colId xmlns:a16="http://schemas.microsoft.com/office/drawing/2014/main" val="203925264"/>
                    </a:ext>
                  </a:extLst>
                </a:gridCol>
                <a:gridCol w="738638">
                  <a:extLst>
                    <a:ext uri="{9D8B030D-6E8A-4147-A177-3AD203B41FA5}">
                      <a16:colId xmlns:a16="http://schemas.microsoft.com/office/drawing/2014/main" val="3561833554"/>
                    </a:ext>
                  </a:extLst>
                </a:gridCol>
                <a:gridCol w="655800">
                  <a:extLst>
                    <a:ext uri="{9D8B030D-6E8A-4147-A177-3AD203B41FA5}">
                      <a16:colId xmlns:a16="http://schemas.microsoft.com/office/drawing/2014/main" val="3831868274"/>
                    </a:ext>
                  </a:extLst>
                </a:gridCol>
                <a:gridCol w="614381">
                  <a:extLst>
                    <a:ext uri="{9D8B030D-6E8A-4147-A177-3AD203B41FA5}">
                      <a16:colId xmlns:a16="http://schemas.microsoft.com/office/drawing/2014/main" val="3957857469"/>
                    </a:ext>
                  </a:extLst>
                </a:gridCol>
              </a:tblGrid>
              <a:tr h="344281"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s-419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lD</a:t>
                      </a:r>
                      <a:endParaRPr lang="es-419" sz="1000">
                        <a:effectLst/>
                      </a:endParaRPr>
                    </a:p>
                  </a:txBody>
                  <a:tcPr marL="34024" marR="34024" marT="24497" marB="2449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s-419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Historia de Usuario</a:t>
                      </a:r>
                      <a:endParaRPr lang="es-419" sz="1000">
                        <a:effectLst/>
                      </a:endParaRPr>
                    </a:p>
                  </a:txBody>
                  <a:tcPr marL="34024" marR="34024" marT="24497" marB="2449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s-419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Importancia</a:t>
                      </a:r>
                      <a:endParaRPr lang="es-419" sz="1000">
                        <a:effectLst/>
                      </a:endParaRPr>
                    </a:p>
                  </a:txBody>
                  <a:tcPr marL="34024" marR="34024" marT="24497" marB="2449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s-419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Spring programado</a:t>
                      </a:r>
                      <a:endParaRPr lang="es-419" sz="1000">
                        <a:effectLst/>
                      </a:endParaRPr>
                    </a:p>
                  </a:txBody>
                  <a:tcPr marL="34024" marR="34024" marT="24497" marB="2449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s-419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Fecha de inicio</a:t>
                      </a:r>
                      <a:endParaRPr lang="es-419" sz="1000">
                        <a:effectLst/>
                      </a:endParaRPr>
                    </a:p>
                  </a:txBody>
                  <a:tcPr marL="34024" marR="34024" marT="24497" marB="2449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s-419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Fecha fin</a:t>
                      </a:r>
                      <a:endParaRPr lang="es-419" sz="1000">
                        <a:effectLst/>
                      </a:endParaRPr>
                    </a:p>
                  </a:txBody>
                  <a:tcPr marL="34024" marR="34024" marT="24497" marB="2449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4563619"/>
                  </a:ext>
                </a:extLst>
              </a:tr>
              <a:tr h="222009"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s-419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HU01</a:t>
                      </a:r>
                      <a:endParaRPr lang="es-419" sz="1000">
                        <a:effectLst/>
                      </a:endParaRPr>
                    </a:p>
                  </a:txBody>
                  <a:tcPr marL="34024" marR="34024" marT="24497" marB="2449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s-419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Inicio de Sesión</a:t>
                      </a:r>
                      <a:endParaRPr lang="es-419" sz="1000">
                        <a:effectLst/>
                      </a:endParaRPr>
                    </a:p>
                  </a:txBody>
                  <a:tcPr marL="34024" marR="34024" marT="24497" marB="2449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s-419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160</a:t>
                      </a:r>
                      <a:endParaRPr lang="es-419" sz="1000">
                        <a:effectLst/>
                      </a:endParaRPr>
                    </a:p>
                  </a:txBody>
                  <a:tcPr marL="34024" marR="34024" marT="24497" marB="2449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s-419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  <a:endParaRPr lang="es-419" sz="1000">
                        <a:effectLst/>
                      </a:endParaRPr>
                    </a:p>
                  </a:txBody>
                  <a:tcPr marL="34024" marR="34024" marT="24497" marB="2449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s-419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25/03/2026</a:t>
                      </a:r>
                      <a:endParaRPr lang="es-419" sz="1000">
                        <a:effectLst/>
                      </a:endParaRPr>
                    </a:p>
                  </a:txBody>
                  <a:tcPr marL="34024" marR="34024" marT="24497" marB="2449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s-419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20/05/2026</a:t>
                      </a:r>
                      <a:endParaRPr lang="es-419" sz="1000">
                        <a:effectLst/>
                      </a:endParaRPr>
                    </a:p>
                  </a:txBody>
                  <a:tcPr marL="34024" marR="34024" marT="24497" marB="2449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4979307"/>
                  </a:ext>
                </a:extLst>
              </a:tr>
              <a:tr h="222009"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s-419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HU02</a:t>
                      </a:r>
                      <a:endParaRPr lang="es-419" sz="1000">
                        <a:effectLst/>
                      </a:endParaRPr>
                    </a:p>
                  </a:txBody>
                  <a:tcPr marL="34024" marR="34024" marT="24497" marB="2449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s-419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Registro de usuario</a:t>
                      </a:r>
                      <a:endParaRPr lang="es-419" sz="1000">
                        <a:effectLst/>
                      </a:endParaRPr>
                    </a:p>
                  </a:txBody>
                  <a:tcPr marL="34024" marR="34024" marT="24497" marB="2449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s-419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160</a:t>
                      </a:r>
                      <a:endParaRPr lang="es-419" sz="1000">
                        <a:effectLst/>
                      </a:endParaRPr>
                    </a:p>
                  </a:txBody>
                  <a:tcPr marL="34024" marR="34024" marT="24497" marB="2449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s-419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  <a:endParaRPr lang="es-419" sz="1000">
                        <a:effectLst/>
                      </a:endParaRPr>
                    </a:p>
                  </a:txBody>
                  <a:tcPr marL="34024" marR="34024" marT="24497" marB="2449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s-419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27/03/2026</a:t>
                      </a:r>
                      <a:endParaRPr lang="es-419" sz="1000">
                        <a:effectLst/>
                      </a:endParaRPr>
                    </a:p>
                  </a:txBody>
                  <a:tcPr marL="34024" marR="34024" marT="24497" marB="2449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s-419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22/05/2026</a:t>
                      </a:r>
                      <a:endParaRPr lang="es-419" sz="1000">
                        <a:effectLst/>
                      </a:endParaRPr>
                    </a:p>
                  </a:txBody>
                  <a:tcPr marL="34024" marR="34024" marT="24497" marB="2449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7170953"/>
                  </a:ext>
                </a:extLst>
              </a:tr>
              <a:tr h="222009"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s-419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HU06</a:t>
                      </a:r>
                      <a:endParaRPr lang="es-419" sz="1000">
                        <a:effectLst/>
                      </a:endParaRPr>
                    </a:p>
                  </a:txBody>
                  <a:tcPr marL="34024" marR="34024" marT="24497" marB="2449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s-419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Registro de libros </a:t>
                      </a:r>
                      <a:endParaRPr lang="es-419" sz="1000">
                        <a:effectLst/>
                      </a:endParaRPr>
                    </a:p>
                  </a:txBody>
                  <a:tcPr marL="34024" marR="34024" marT="24497" marB="2449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s-419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160</a:t>
                      </a:r>
                      <a:endParaRPr lang="es-419" sz="1000">
                        <a:effectLst/>
                      </a:endParaRPr>
                    </a:p>
                  </a:txBody>
                  <a:tcPr marL="34024" marR="34024" marT="24497" marB="2449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s-419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  <a:endParaRPr lang="es-419" sz="1000">
                        <a:effectLst/>
                      </a:endParaRPr>
                    </a:p>
                  </a:txBody>
                  <a:tcPr marL="34024" marR="34024" marT="24497" marB="2449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s-419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29/03/2026</a:t>
                      </a:r>
                      <a:endParaRPr lang="es-419" sz="1000">
                        <a:effectLst/>
                      </a:endParaRPr>
                    </a:p>
                  </a:txBody>
                  <a:tcPr marL="34024" marR="34024" marT="24497" marB="2449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s-419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24/05/2026</a:t>
                      </a:r>
                      <a:endParaRPr lang="es-419" sz="1000">
                        <a:effectLst/>
                      </a:endParaRPr>
                    </a:p>
                  </a:txBody>
                  <a:tcPr marL="34024" marR="34024" marT="24497" marB="2449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3499182"/>
                  </a:ext>
                </a:extLst>
              </a:tr>
              <a:tr h="288011"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s-419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HU07</a:t>
                      </a:r>
                      <a:endParaRPr lang="es-419" sz="1000">
                        <a:effectLst/>
                      </a:endParaRPr>
                    </a:p>
                  </a:txBody>
                  <a:tcPr marL="34024" marR="34024" marT="24497" marB="2449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s-419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Registro de préstamo y Devolución </a:t>
                      </a:r>
                      <a:endParaRPr lang="es-419" sz="1000">
                        <a:effectLst/>
                      </a:endParaRPr>
                    </a:p>
                  </a:txBody>
                  <a:tcPr marL="34024" marR="34024" marT="24497" marB="2449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s-419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160</a:t>
                      </a:r>
                      <a:endParaRPr lang="es-419" sz="1000">
                        <a:effectLst/>
                      </a:endParaRPr>
                    </a:p>
                  </a:txBody>
                  <a:tcPr marL="34024" marR="34024" marT="24497" marB="2449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s-419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  <a:endParaRPr lang="es-419" sz="1000">
                        <a:effectLst/>
                      </a:endParaRPr>
                    </a:p>
                  </a:txBody>
                  <a:tcPr marL="34024" marR="34024" marT="24497" marB="2449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s-419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04/04/2026</a:t>
                      </a:r>
                      <a:endParaRPr lang="es-419" sz="1000">
                        <a:effectLst/>
                      </a:endParaRPr>
                    </a:p>
                  </a:txBody>
                  <a:tcPr marL="34024" marR="34024" marT="24497" marB="2449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s-419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28/05/2026</a:t>
                      </a:r>
                      <a:endParaRPr lang="es-419" sz="1000">
                        <a:effectLst/>
                      </a:endParaRPr>
                    </a:p>
                  </a:txBody>
                  <a:tcPr marL="34024" marR="34024" marT="24497" marB="2449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4141882"/>
                  </a:ext>
                </a:extLst>
              </a:tr>
              <a:tr h="222009"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s-419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HU05</a:t>
                      </a:r>
                      <a:endParaRPr lang="es-419" sz="1000">
                        <a:effectLst/>
                      </a:endParaRPr>
                    </a:p>
                  </a:txBody>
                  <a:tcPr marL="34024" marR="34024" marT="24497" marB="2449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s-419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Consulta de usuario</a:t>
                      </a:r>
                      <a:endParaRPr lang="es-419" sz="1000">
                        <a:effectLst/>
                      </a:endParaRPr>
                    </a:p>
                  </a:txBody>
                  <a:tcPr marL="34024" marR="34024" marT="24497" marB="2449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s-419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128</a:t>
                      </a:r>
                      <a:endParaRPr lang="es-419" sz="1000">
                        <a:effectLst/>
                      </a:endParaRPr>
                    </a:p>
                  </a:txBody>
                  <a:tcPr marL="34024" marR="34024" marT="24497" marB="2449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s-419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  <a:endParaRPr lang="es-419" sz="1000">
                        <a:effectLst/>
                      </a:endParaRPr>
                    </a:p>
                  </a:txBody>
                  <a:tcPr marL="34024" marR="34024" marT="24497" marB="2449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s-419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08/04/2026</a:t>
                      </a:r>
                      <a:endParaRPr lang="es-419" sz="1000">
                        <a:effectLst/>
                      </a:endParaRPr>
                    </a:p>
                  </a:txBody>
                  <a:tcPr marL="34024" marR="34024" marT="24497" marB="2449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s-419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02/06/2026</a:t>
                      </a:r>
                      <a:endParaRPr lang="es-419" sz="1000">
                        <a:effectLst/>
                      </a:endParaRPr>
                    </a:p>
                  </a:txBody>
                  <a:tcPr marL="34024" marR="34024" marT="24497" marB="2449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1039818"/>
                  </a:ext>
                </a:extLst>
              </a:tr>
              <a:tr h="630960"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s-419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HU12</a:t>
                      </a:r>
                      <a:endParaRPr lang="es-419" sz="1000">
                        <a:effectLst/>
                      </a:endParaRPr>
                    </a:p>
                  </a:txBody>
                  <a:tcPr marL="34024" marR="34024" marT="24497" marB="2449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s-419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Renovación de préstamos </a:t>
                      </a:r>
                      <a:endParaRPr lang="es-419" sz="1000">
                        <a:effectLst/>
                      </a:endParaRPr>
                    </a:p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s-419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419" sz="1000">
                        <a:effectLst/>
                      </a:endParaRPr>
                    </a:p>
                  </a:txBody>
                  <a:tcPr marL="34024" marR="34024" marT="24497" marB="2449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s-419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128</a:t>
                      </a:r>
                      <a:endParaRPr lang="es-419" sz="1000">
                        <a:effectLst/>
                      </a:endParaRPr>
                    </a:p>
                  </a:txBody>
                  <a:tcPr marL="34024" marR="34024" marT="24497" marB="2449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s-419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  <a:endParaRPr lang="es-419" sz="1000">
                        <a:effectLst/>
                      </a:endParaRPr>
                    </a:p>
                  </a:txBody>
                  <a:tcPr marL="34024" marR="34024" marT="24497" marB="2449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s-419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12/04/2026</a:t>
                      </a:r>
                      <a:endParaRPr lang="es-419" sz="1000">
                        <a:effectLst/>
                      </a:endParaRPr>
                    </a:p>
                  </a:txBody>
                  <a:tcPr marL="34024" marR="34024" marT="24497" marB="2449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s-419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06/06/2026</a:t>
                      </a:r>
                      <a:endParaRPr lang="es-419" sz="1000" dirty="0">
                        <a:effectLst/>
                      </a:endParaRPr>
                    </a:p>
                  </a:txBody>
                  <a:tcPr marL="34024" marR="34024" marT="24497" marB="2449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0143877"/>
                  </a:ext>
                </a:extLst>
              </a:tr>
              <a:tr h="426017"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s-419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HU09</a:t>
                      </a:r>
                      <a:endParaRPr lang="es-419" sz="1000">
                        <a:effectLst/>
                      </a:endParaRPr>
                    </a:p>
                  </a:txBody>
                  <a:tcPr marL="34024" marR="34024" marT="24497" marB="2449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s-419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Generación de reportes automáticos </a:t>
                      </a:r>
                      <a:endParaRPr lang="es-419" sz="1000">
                        <a:effectLst/>
                      </a:endParaRPr>
                    </a:p>
                  </a:txBody>
                  <a:tcPr marL="34024" marR="34024" marT="24497" marB="2449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s-419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128</a:t>
                      </a:r>
                      <a:endParaRPr lang="es-419" sz="1000">
                        <a:effectLst/>
                      </a:endParaRPr>
                    </a:p>
                  </a:txBody>
                  <a:tcPr marL="34024" marR="34024" marT="24497" marB="2449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s-419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  <a:endParaRPr lang="es-419" sz="1000">
                        <a:effectLst/>
                      </a:endParaRPr>
                    </a:p>
                  </a:txBody>
                  <a:tcPr marL="34024" marR="34024" marT="24497" marB="2449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s-419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15/04/2026</a:t>
                      </a:r>
                      <a:endParaRPr lang="es-419" sz="1000">
                        <a:effectLst/>
                      </a:endParaRPr>
                    </a:p>
                  </a:txBody>
                  <a:tcPr marL="34024" marR="34024" marT="24497" marB="2449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s-419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10/06/2026</a:t>
                      </a:r>
                      <a:endParaRPr lang="es-419" sz="1000">
                        <a:effectLst/>
                      </a:endParaRPr>
                    </a:p>
                  </a:txBody>
                  <a:tcPr marL="34024" marR="34024" marT="24497" marB="2449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6882076"/>
                  </a:ext>
                </a:extLst>
              </a:tr>
              <a:tr h="288011"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s-419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HU10</a:t>
                      </a:r>
                      <a:endParaRPr lang="es-419" sz="1000">
                        <a:effectLst/>
                      </a:endParaRPr>
                    </a:p>
                  </a:txBody>
                  <a:tcPr marL="34024" marR="34024" marT="24497" marB="2449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s-419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Recuperación de contraseña</a:t>
                      </a:r>
                      <a:endParaRPr lang="es-419" sz="1000">
                        <a:effectLst/>
                      </a:endParaRPr>
                    </a:p>
                  </a:txBody>
                  <a:tcPr marL="34024" marR="34024" marT="24497" marB="2449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s-419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120</a:t>
                      </a:r>
                      <a:endParaRPr lang="es-419" sz="1000">
                        <a:effectLst/>
                      </a:endParaRPr>
                    </a:p>
                  </a:txBody>
                  <a:tcPr marL="34024" marR="34024" marT="24497" marB="2449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s-419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  <a:endParaRPr lang="es-419" sz="1000">
                        <a:effectLst/>
                      </a:endParaRPr>
                    </a:p>
                  </a:txBody>
                  <a:tcPr marL="34024" marR="34024" marT="24497" marB="2449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s-419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20/04/2026</a:t>
                      </a:r>
                      <a:endParaRPr lang="es-419" sz="1000">
                        <a:effectLst/>
                      </a:endParaRPr>
                    </a:p>
                  </a:txBody>
                  <a:tcPr marL="34024" marR="34024" marT="24497" marB="2449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s-419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14/06/2026</a:t>
                      </a:r>
                      <a:endParaRPr lang="es-419" sz="1000">
                        <a:effectLst/>
                      </a:endParaRPr>
                    </a:p>
                  </a:txBody>
                  <a:tcPr marL="34024" marR="34024" marT="24497" marB="2449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2108263"/>
                  </a:ext>
                </a:extLst>
              </a:tr>
              <a:tr h="576023"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s-419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HU11</a:t>
                      </a:r>
                      <a:endParaRPr lang="es-419" sz="1000">
                        <a:effectLst/>
                      </a:endParaRPr>
                    </a:p>
                  </a:txBody>
                  <a:tcPr marL="34024" marR="34024" marT="24497" marB="2449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s-419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Gestión de roles y permisos</a:t>
                      </a:r>
                      <a:endParaRPr lang="es-419" sz="1000">
                        <a:effectLst/>
                      </a:endParaRPr>
                    </a:p>
                  </a:txBody>
                  <a:tcPr marL="34024" marR="34024" marT="24497" marB="2449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s-419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120</a:t>
                      </a:r>
                      <a:endParaRPr lang="es-419" sz="1000">
                        <a:effectLst/>
                      </a:endParaRPr>
                    </a:p>
                  </a:txBody>
                  <a:tcPr marL="34024" marR="34024" marT="24497" marB="2449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s-419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  <a:endParaRPr lang="es-419" sz="1000">
                        <a:effectLst/>
                      </a:endParaRPr>
                    </a:p>
                  </a:txBody>
                  <a:tcPr marL="34024" marR="34024" marT="24497" marB="2449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s-419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24/04/2026</a:t>
                      </a:r>
                      <a:endParaRPr lang="es-419" sz="1000">
                        <a:effectLst/>
                      </a:endParaRPr>
                    </a:p>
                  </a:txBody>
                  <a:tcPr marL="34024" marR="34024" marT="24497" marB="2449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s-419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25/04/2026</a:t>
                      </a:r>
                      <a:endParaRPr lang="es-419" sz="1000">
                        <a:effectLst/>
                      </a:endParaRPr>
                    </a:p>
                  </a:txBody>
                  <a:tcPr marL="34024" marR="34024" marT="24497" marB="2449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7837059"/>
                  </a:ext>
                </a:extLst>
              </a:tr>
              <a:tr h="576023"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s-419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HU03</a:t>
                      </a:r>
                      <a:endParaRPr lang="es-419" sz="1000">
                        <a:effectLst/>
                      </a:endParaRPr>
                    </a:p>
                  </a:txBody>
                  <a:tcPr marL="34024" marR="34024" marT="24497" marB="2449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s-419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Modificación de usuarios</a:t>
                      </a:r>
                      <a:endParaRPr lang="es-419" sz="1000">
                        <a:effectLst/>
                      </a:endParaRPr>
                    </a:p>
                  </a:txBody>
                  <a:tcPr marL="34024" marR="34024" marT="24497" marB="2449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s-419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64</a:t>
                      </a:r>
                      <a:endParaRPr lang="es-419" sz="1000">
                        <a:effectLst/>
                      </a:endParaRPr>
                    </a:p>
                  </a:txBody>
                  <a:tcPr marL="34024" marR="34024" marT="24497" marB="2449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s-419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</a:t>
                      </a:r>
                      <a:endParaRPr lang="es-419" sz="1000">
                        <a:effectLst/>
                      </a:endParaRPr>
                    </a:p>
                  </a:txBody>
                  <a:tcPr marL="34024" marR="34024" marT="24497" marB="2449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s-419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01/05/2026</a:t>
                      </a:r>
                      <a:endParaRPr lang="es-419" sz="1000">
                        <a:effectLst/>
                      </a:endParaRPr>
                    </a:p>
                  </a:txBody>
                  <a:tcPr marL="34024" marR="34024" marT="24497" marB="2449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s-419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14/05/2026</a:t>
                      </a:r>
                      <a:endParaRPr lang="es-419" sz="1000">
                        <a:effectLst/>
                      </a:endParaRPr>
                    </a:p>
                  </a:txBody>
                  <a:tcPr marL="34024" marR="34024" marT="24497" marB="2449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79715884"/>
                  </a:ext>
                </a:extLst>
              </a:tr>
              <a:tr h="576023"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s-419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HU08</a:t>
                      </a:r>
                      <a:endParaRPr lang="es-419" sz="1000">
                        <a:effectLst/>
                      </a:endParaRPr>
                    </a:p>
                  </a:txBody>
                  <a:tcPr marL="34024" marR="34024" marT="24497" marB="2449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s-419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Consulta del historial de préstamo</a:t>
                      </a:r>
                      <a:endParaRPr lang="es-419" sz="1000">
                        <a:effectLst/>
                      </a:endParaRPr>
                    </a:p>
                  </a:txBody>
                  <a:tcPr marL="34024" marR="34024" marT="24497" marB="2449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s-419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64</a:t>
                      </a:r>
                      <a:endParaRPr lang="es-419" sz="1000">
                        <a:effectLst/>
                      </a:endParaRPr>
                    </a:p>
                  </a:txBody>
                  <a:tcPr marL="34024" marR="34024" marT="24497" marB="2449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s-419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</a:t>
                      </a:r>
                      <a:endParaRPr lang="es-419" sz="1000">
                        <a:effectLst/>
                      </a:endParaRPr>
                    </a:p>
                  </a:txBody>
                  <a:tcPr marL="34024" marR="34024" marT="24497" marB="2449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s-419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20/05/2026</a:t>
                      </a:r>
                      <a:endParaRPr lang="es-419" sz="1000">
                        <a:effectLst/>
                      </a:endParaRPr>
                    </a:p>
                  </a:txBody>
                  <a:tcPr marL="34024" marR="34024" marT="24497" marB="2449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s-419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30/05/2026</a:t>
                      </a:r>
                      <a:endParaRPr lang="es-419" sz="1000">
                        <a:effectLst/>
                      </a:endParaRPr>
                    </a:p>
                  </a:txBody>
                  <a:tcPr marL="34024" marR="34024" marT="24497" marB="2449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630601"/>
                  </a:ext>
                </a:extLst>
              </a:tr>
              <a:tr h="576023"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s-419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HU04</a:t>
                      </a:r>
                      <a:endParaRPr lang="es-419" sz="1000">
                        <a:effectLst/>
                      </a:endParaRPr>
                    </a:p>
                  </a:txBody>
                  <a:tcPr marL="34024" marR="34024" marT="24497" marB="2449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s-419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Eliminar usuario</a:t>
                      </a:r>
                      <a:endParaRPr lang="es-419" sz="1000">
                        <a:effectLst/>
                      </a:endParaRPr>
                    </a:p>
                  </a:txBody>
                  <a:tcPr marL="34024" marR="34024" marT="24497" marB="2449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s-419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64</a:t>
                      </a:r>
                      <a:endParaRPr lang="es-419" sz="1000">
                        <a:effectLst/>
                      </a:endParaRPr>
                    </a:p>
                  </a:txBody>
                  <a:tcPr marL="34024" marR="34024" marT="24497" marB="2449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s-419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</a:t>
                      </a:r>
                      <a:endParaRPr lang="es-419" sz="1000">
                        <a:effectLst/>
                      </a:endParaRPr>
                    </a:p>
                  </a:txBody>
                  <a:tcPr marL="34024" marR="34024" marT="24497" marB="2449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s-419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01/07/2026</a:t>
                      </a:r>
                      <a:endParaRPr lang="es-419" sz="1000">
                        <a:effectLst/>
                      </a:endParaRPr>
                    </a:p>
                  </a:txBody>
                  <a:tcPr marL="34024" marR="34024" marT="24497" marB="2449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s-419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04/07/2026</a:t>
                      </a:r>
                      <a:endParaRPr lang="es-419" sz="1000" dirty="0">
                        <a:effectLst/>
                      </a:endParaRPr>
                    </a:p>
                  </a:txBody>
                  <a:tcPr marL="34024" marR="34024" marT="24497" marB="2449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221494"/>
                  </a:ext>
                </a:extLst>
              </a:tr>
            </a:tbl>
          </a:graphicData>
        </a:graphic>
      </p:graphicFrame>
      <p:sp>
        <p:nvSpPr>
          <p:cNvPr id="15" name="Rectangle 4">
            <a:extLst>
              <a:ext uri="{FF2B5EF4-FFF2-40B4-BE49-F238E27FC236}">
                <a16:creationId xmlns:a16="http://schemas.microsoft.com/office/drawing/2014/main" id="{1E353785-B623-4D65-A83D-FC4E29A103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9938" y="169545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419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05799C6C-1F29-448F-9807-6A31D67A11FA}"/>
              </a:ext>
            </a:extLst>
          </p:cNvPr>
          <p:cNvSpPr txBox="1"/>
          <p:nvPr/>
        </p:nvSpPr>
        <p:spPr>
          <a:xfrm>
            <a:off x="4689657" y="70253"/>
            <a:ext cx="351739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404040"/>
                </a:solidFill>
                <a:latin typeface="Fira Sans Semi-Bold"/>
                <a:ea typeface="Fira Sans Semi-Bold"/>
                <a:cs typeface="Fira Sans Semi-Bold"/>
                <a:sym typeface="Fira Sans Semi-Bold"/>
              </a:rPr>
              <a:t>Planificación Scrum</a:t>
            </a:r>
            <a:endParaRPr lang="es-419" sz="2800" dirty="0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76A341C2-7239-45BC-9DDB-4BCAF0C05072}"/>
              </a:ext>
            </a:extLst>
          </p:cNvPr>
          <p:cNvSpPr txBox="1"/>
          <p:nvPr/>
        </p:nvSpPr>
        <p:spPr>
          <a:xfrm>
            <a:off x="589180" y="431587"/>
            <a:ext cx="41004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419" altLang="es-419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Product Backlog Priorizado</a:t>
            </a:r>
            <a:endParaRPr kumimoji="0" lang="es-419" altLang="es-419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20" name="Freeform 4">
            <a:extLst>
              <a:ext uri="{FF2B5EF4-FFF2-40B4-BE49-F238E27FC236}">
                <a16:creationId xmlns:a16="http://schemas.microsoft.com/office/drawing/2014/main" id="{984EB7B7-AF4A-40CD-A6D4-64658AA7EB47}"/>
              </a:ext>
            </a:extLst>
          </p:cNvPr>
          <p:cNvSpPr/>
          <p:nvPr/>
        </p:nvSpPr>
        <p:spPr>
          <a:xfrm>
            <a:off x="1472184" y="2763176"/>
            <a:ext cx="732406" cy="665824"/>
          </a:xfrm>
          <a:custGeom>
            <a:avLst/>
            <a:gdLst/>
            <a:ahLst/>
            <a:cxnLst/>
            <a:rect l="l" t="t" r="r" b="b"/>
            <a:pathLst>
              <a:path w="732406" h="665824">
                <a:moveTo>
                  <a:pt x="0" y="0"/>
                </a:moveTo>
                <a:lnTo>
                  <a:pt x="732406" y="0"/>
                </a:lnTo>
                <a:lnTo>
                  <a:pt x="732406" y="665824"/>
                </a:lnTo>
                <a:lnTo>
                  <a:pt x="0" y="6658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39677238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BB8BD7D0-A8ED-4A35-B5AC-446A538C45FA}"/>
              </a:ext>
            </a:extLst>
          </p:cNvPr>
          <p:cNvSpPr txBox="1"/>
          <p:nvPr/>
        </p:nvSpPr>
        <p:spPr>
          <a:xfrm>
            <a:off x="1280160" y="150614"/>
            <a:ext cx="35234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419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lang="es-419" sz="24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rquitectura del sistema </a:t>
            </a:r>
            <a:endParaRPr lang="es-419" sz="2400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9927305B-89FD-448D-9E35-7F964BF04D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2799" y="3036878"/>
            <a:ext cx="2243326" cy="1995410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E1AA955E-4882-40A9-8D97-86950656AC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5382" y="3036878"/>
            <a:ext cx="1943201" cy="1890239"/>
          </a:xfrm>
          <a:prstGeom prst="rect">
            <a:avLst/>
          </a:prstGeom>
        </p:spPr>
      </p:pic>
      <p:pic>
        <p:nvPicPr>
          <p:cNvPr id="14" name="Marcador de contenido 13">
            <a:extLst>
              <a:ext uri="{FF2B5EF4-FFF2-40B4-BE49-F238E27FC236}">
                <a16:creationId xmlns:a16="http://schemas.microsoft.com/office/drawing/2014/main" id="{6545CBB3-0353-431F-ADFD-F30C39D9FD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0160" y="862778"/>
            <a:ext cx="3189910" cy="5132443"/>
          </a:xfrm>
        </p:spPr>
      </p:pic>
      <p:sp>
        <p:nvSpPr>
          <p:cNvPr id="20" name="CuadroTexto 19">
            <a:extLst>
              <a:ext uri="{FF2B5EF4-FFF2-40B4-BE49-F238E27FC236}">
                <a16:creationId xmlns:a16="http://schemas.microsoft.com/office/drawing/2014/main" id="{161507C7-45CB-49FC-9360-B0D1795714D9}"/>
              </a:ext>
            </a:extLst>
          </p:cNvPr>
          <p:cNvSpPr txBox="1"/>
          <p:nvPr/>
        </p:nvSpPr>
        <p:spPr>
          <a:xfrm>
            <a:off x="7452278" y="1393586"/>
            <a:ext cx="25847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419" sz="1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Tecnologías utilizadas</a:t>
            </a:r>
            <a:endParaRPr lang="es-419" sz="1800" b="1" dirty="0"/>
          </a:p>
        </p:txBody>
      </p:sp>
      <p:sp>
        <p:nvSpPr>
          <p:cNvPr id="25" name="TextBox 11">
            <a:extLst>
              <a:ext uri="{FF2B5EF4-FFF2-40B4-BE49-F238E27FC236}">
                <a16:creationId xmlns:a16="http://schemas.microsoft.com/office/drawing/2014/main" id="{613F6477-50F0-4AA5-8018-DF8F20323E3E}"/>
              </a:ext>
            </a:extLst>
          </p:cNvPr>
          <p:cNvSpPr txBox="1"/>
          <p:nvPr/>
        </p:nvSpPr>
        <p:spPr>
          <a:xfrm>
            <a:off x="6741349" y="2938408"/>
            <a:ext cx="1506227" cy="4905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445"/>
              </a:lnSpc>
              <a:spcBef>
                <a:spcPct val="0"/>
              </a:spcBef>
            </a:pPr>
            <a:r>
              <a:rPr lang="en-US" sz="2400" b="1" spc="-77" dirty="0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Java</a:t>
            </a:r>
          </a:p>
        </p:txBody>
      </p:sp>
      <p:sp>
        <p:nvSpPr>
          <p:cNvPr id="30" name="TextBox 11">
            <a:extLst>
              <a:ext uri="{FF2B5EF4-FFF2-40B4-BE49-F238E27FC236}">
                <a16:creationId xmlns:a16="http://schemas.microsoft.com/office/drawing/2014/main" id="{6834E365-0C77-40B6-BC16-858A6855CF5D}"/>
              </a:ext>
            </a:extLst>
          </p:cNvPr>
          <p:cNvSpPr txBox="1"/>
          <p:nvPr/>
        </p:nvSpPr>
        <p:spPr>
          <a:xfrm>
            <a:off x="9278189" y="2828065"/>
            <a:ext cx="1517589" cy="6009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445"/>
              </a:lnSpc>
              <a:spcBef>
                <a:spcPct val="0"/>
              </a:spcBef>
            </a:pPr>
            <a:r>
              <a:rPr lang="en-US" sz="2400" b="1" spc="-77" dirty="0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MYSQL</a:t>
            </a:r>
          </a:p>
        </p:txBody>
      </p:sp>
    </p:spTree>
    <p:extLst>
      <p:ext uri="{BB962C8B-B14F-4D97-AF65-F5344CB8AC3E}">
        <p14:creationId xmlns:p14="http://schemas.microsoft.com/office/powerpoint/2010/main" val="31178660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9354165A-CAB5-46F9-8FF1-BADC161C6B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834" y="1637675"/>
            <a:ext cx="5181600" cy="348615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F0BFE456-A0D6-49F6-96C2-0F0ABCC41A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637675"/>
            <a:ext cx="5726243" cy="2653259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F942C2B8-6E22-489A-84B9-72E6140F20A0}"/>
              </a:ext>
            </a:extLst>
          </p:cNvPr>
          <p:cNvSpPr txBox="1"/>
          <p:nvPr/>
        </p:nvSpPr>
        <p:spPr>
          <a:xfrm>
            <a:off x="663315" y="617307"/>
            <a:ext cx="285937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419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Código de conexión</a:t>
            </a:r>
            <a:endParaRPr lang="es-419" sz="2400" b="1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73AD4771-9087-4AAE-B613-6B5A9009D449}"/>
              </a:ext>
            </a:extLst>
          </p:cNvPr>
          <p:cNvSpPr txBox="1"/>
          <p:nvPr/>
        </p:nvSpPr>
        <p:spPr>
          <a:xfrm>
            <a:off x="6749322" y="613559"/>
            <a:ext cx="23646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419" sz="1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INNER  JOIN</a:t>
            </a:r>
            <a:endParaRPr lang="es-419" sz="1800" b="1" dirty="0"/>
          </a:p>
        </p:txBody>
      </p:sp>
    </p:spTree>
    <p:extLst>
      <p:ext uri="{BB962C8B-B14F-4D97-AF65-F5344CB8AC3E}">
        <p14:creationId xmlns:p14="http://schemas.microsoft.com/office/powerpoint/2010/main" val="29793315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D675884E-5D06-4C1E-97A8-B9F1E7B701F9}"/>
              </a:ext>
            </a:extLst>
          </p:cNvPr>
          <p:cNvSpPr txBox="1"/>
          <p:nvPr/>
        </p:nvSpPr>
        <p:spPr>
          <a:xfrm>
            <a:off x="4267200" y="199382"/>
            <a:ext cx="346252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419" sz="24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Modelo de la base de datos </a:t>
            </a:r>
            <a:endParaRPr lang="es-419" sz="2400" dirty="0"/>
          </a:p>
        </p:txBody>
      </p:sp>
      <p:pic>
        <p:nvPicPr>
          <p:cNvPr id="6" name="Marcador de contenido 4">
            <a:extLst>
              <a:ext uri="{FF2B5EF4-FFF2-40B4-BE49-F238E27FC236}">
                <a16:creationId xmlns:a16="http://schemas.microsoft.com/office/drawing/2014/main" id="{8304EDF2-4B2F-4E75-8C91-110E972466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3135" y="568714"/>
            <a:ext cx="4788130" cy="4825856"/>
          </a:xfrm>
        </p:spPr>
      </p:pic>
      <p:sp>
        <p:nvSpPr>
          <p:cNvPr id="7" name="Freeform 2">
            <a:extLst>
              <a:ext uri="{FF2B5EF4-FFF2-40B4-BE49-F238E27FC236}">
                <a16:creationId xmlns:a16="http://schemas.microsoft.com/office/drawing/2014/main" id="{25D881DD-406E-4CEA-AACE-EE848C61137C}"/>
              </a:ext>
            </a:extLst>
          </p:cNvPr>
          <p:cNvSpPr/>
          <p:nvPr/>
        </p:nvSpPr>
        <p:spPr>
          <a:xfrm>
            <a:off x="8886873" y="3358662"/>
            <a:ext cx="3116298" cy="3116298"/>
          </a:xfrm>
          <a:custGeom>
            <a:avLst/>
            <a:gdLst/>
            <a:ahLst/>
            <a:cxnLst/>
            <a:rect l="l" t="t" r="r" b="b"/>
            <a:pathLst>
              <a:path w="3116298" h="3116298">
                <a:moveTo>
                  <a:pt x="0" y="0"/>
                </a:moveTo>
                <a:lnTo>
                  <a:pt x="3116298" y="0"/>
                </a:lnTo>
                <a:lnTo>
                  <a:pt x="3116298" y="3116298"/>
                </a:lnTo>
                <a:lnTo>
                  <a:pt x="0" y="31162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</p:sp>
    </p:spTree>
    <p:extLst>
      <p:ext uri="{BB962C8B-B14F-4D97-AF65-F5344CB8AC3E}">
        <p14:creationId xmlns:p14="http://schemas.microsoft.com/office/powerpoint/2010/main" val="40334181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DF1DC511-227A-4142-A920-E127C7191052}"/>
              </a:ext>
            </a:extLst>
          </p:cNvPr>
          <p:cNvSpPr txBox="1"/>
          <p:nvPr/>
        </p:nvSpPr>
        <p:spPr>
          <a:xfrm>
            <a:off x="3462528" y="138422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419" sz="24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Modelado de procesos de negocio (BPMN)</a:t>
            </a:r>
            <a:endParaRPr lang="es-419" sz="2400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E479F752-5BDA-45AD-B220-6B04935169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1120" y="2081530"/>
            <a:ext cx="10338816" cy="4168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24268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A74CC9E4-EAB2-4B78-BC0A-F7B74B386F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9654" y="1264443"/>
            <a:ext cx="6172691" cy="4329113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F4F4AAB4-26BA-465E-82AC-9DA1344F7A2E}"/>
              </a:ext>
            </a:extLst>
          </p:cNvPr>
          <p:cNvSpPr txBox="1"/>
          <p:nvPr/>
        </p:nvSpPr>
        <p:spPr>
          <a:xfrm>
            <a:off x="3789760" y="286821"/>
            <a:ext cx="609361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419" sz="24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Diagrama de objetos (UML)</a:t>
            </a:r>
            <a:endParaRPr lang="es-419" sz="2400" dirty="0"/>
          </a:p>
        </p:txBody>
      </p:sp>
    </p:spTree>
    <p:extLst>
      <p:ext uri="{BB962C8B-B14F-4D97-AF65-F5344CB8AC3E}">
        <p14:creationId xmlns:p14="http://schemas.microsoft.com/office/powerpoint/2010/main" val="3161098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BD01E3ED-D4C8-4CEE-B79B-9F92F7706C92}"/>
              </a:ext>
            </a:extLst>
          </p:cNvPr>
          <p:cNvSpPr txBox="1"/>
          <p:nvPr/>
        </p:nvSpPr>
        <p:spPr>
          <a:xfrm>
            <a:off x="4663948" y="666234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419" sz="24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Análisis estadístico</a:t>
            </a:r>
            <a:endParaRPr lang="es-419" sz="2400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75A680C-C9C8-4ACE-B7A3-2052156B10C5}"/>
              </a:ext>
            </a:extLst>
          </p:cNvPr>
          <p:cNvSpPr txBox="1"/>
          <p:nvPr/>
        </p:nvSpPr>
        <p:spPr>
          <a:xfrm>
            <a:off x="1879600" y="2324438"/>
            <a:ext cx="76708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419" dirty="0"/>
              <a:t>El análisis estadístico inferencial permitió interpretar los resultados obtenidos en las encuestas para determinar la aceptación y viabilidad del sistema propuesto. A partir de las respuestas de los usuarios, se realizaron inferencias sobre las necesidades de la población estudiantil y la conveniencia de implementar un sistema automatizado para la gestión de la biblioteca.</a:t>
            </a:r>
          </a:p>
        </p:txBody>
      </p:sp>
    </p:spTree>
    <p:extLst>
      <p:ext uri="{BB962C8B-B14F-4D97-AF65-F5344CB8AC3E}">
        <p14:creationId xmlns:p14="http://schemas.microsoft.com/office/powerpoint/2010/main" val="37792974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322E2E86-C7FF-4446-A41C-23129036F556}"/>
              </a:ext>
            </a:extLst>
          </p:cNvPr>
          <p:cNvSpPr txBox="1"/>
          <p:nvPr/>
        </p:nvSpPr>
        <p:spPr>
          <a:xfrm>
            <a:off x="3961384" y="198366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NI" sz="240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Demostración del sistema funcional </a:t>
            </a:r>
            <a:endParaRPr lang="es-419" sz="2400" b="1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A7A16DE-525F-4478-90B9-D58A4B973A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0625" y="1757363"/>
            <a:ext cx="3481388" cy="371475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494082FB-DEBA-4309-A1F5-416EB5CDE0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2250" y="1619250"/>
            <a:ext cx="4729163" cy="3852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5714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542E0709-7B6B-40D0-9957-EB6CD5D86E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2125" y="1403350"/>
            <a:ext cx="5568950" cy="3822700"/>
          </a:xfrm>
          <a:prstGeom prst="rect">
            <a:avLst/>
          </a:prstGeom>
        </p:spPr>
      </p:pic>
      <p:sp>
        <p:nvSpPr>
          <p:cNvPr id="6" name="Freeform 4">
            <a:extLst>
              <a:ext uri="{FF2B5EF4-FFF2-40B4-BE49-F238E27FC236}">
                <a16:creationId xmlns:a16="http://schemas.microsoft.com/office/drawing/2014/main" id="{53C88C59-602C-49D1-954C-00D013A04571}"/>
              </a:ext>
            </a:extLst>
          </p:cNvPr>
          <p:cNvSpPr/>
          <p:nvPr/>
        </p:nvSpPr>
        <p:spPr>
          <a:xfrm>
            <a:off x="8634984" y="2255519"/>
            <a:ext cx="3304032" cy="3892637"/>
          </a:xfrm>
          <a:custGeom>
            <a:avLst/>
            <a:gdLst/>
            <a:ahLst/>
            <a:cxnLst/>
            <a:rect l="l" t="t" r="r" b="b"/>
            <a:pathLst>
              <a:path w="5738668" h="6519254">
                <a:moveTo>
                  <a:pt x="0" y="0"/>
                </a:moveTo>
                <a:lnTo>
                  <a:pt x="5738668" y="0"/>
                </a:lnTo>
                <a:lnTo>
                  <a:pt x="5738668" y="6519254"/>
                </a:lnTo>
                <a:lnTo>
                  <a:pt x="0" y="6519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801" r="-6801"/>
            </a:stretch>
          </a:blipFill>
        </p:spPr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B8E0D229-68B7-4A8C-B446-4C9CA079D6D9}"/>
              </a:ext>
            </a:extLst>
          </p:cNvPr>
          <p:cNvSpPr txBox="1"/>
          <p:nvPr/>
        </p:nvSpPr>
        <p:spPr>
          <a:xfrm>
            <a:off x="3886200" y="2481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NI" sz="240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Demostración del sistema funcional </a:t>
            </a:r>
            <a:endParaRPr lang="es-419" sz="2400" b="1" dirty="0"/>
          </a:p>
        </p:txBody>
      </p:sp>
    </p:spTree>
    <p:extLst>
      <p:ext uri="{BB962C8B-B14F-4D97-AF65-F5344CB8AC3E}">
        <p14:creationId xmlns:p14="http://schemas.microsoft.com/office/powerpoint/2010/main" val="32245619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BED34436-8866-4BAA-B7F5-8696D9712E6A}"/>
              </a:ext>
            </a:extLst>
          </p:cNvPr>
          <p:cNvSpPr txBox="1"/>
          <p:nvPr/>
        </p:nvSpPr>
        <p:spPr>
          <a:xfrm>
            <a:off x="5024120" y="548886"/>
            <a:ext cx="21437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NI" sz="280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Conclusión</a:t>
            </a:r>
            <a:endParaRPr lang="es-419" sz="2800" b="1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61BEB9D-2A4B-4EA1-9779-C03F66918EFE}"/>
              </a:ext>
            </a:extLst>
          </p:cNvPr>
          <p:cNvSpPr txBox="1"/>
          <p:nvPr/>
        </p:nvSpPr>
        <p:spPr>
          <a:xfrm>
            <a:off x="1765300" y="1931938"/>
            <a:ext cx="77724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419" dirty="0"/>
              <a:t>El Sistema de Gestión Bibliotecaria permitió optimizar el control de libros, préstamos, devoluciones y registros de estudiantes mediante la automatización de procesos clave. Su implementación mejoró la organización de la información, redujo errores operativos y agilizó las actividades realizadas por el bibliotecario. De esta manera, el sistema contribuye a una gestión más eficiente, segura y confiable de los recursos bibliográficos de la institución.</a:t>
            </a:r>
          </a:p>
        </p:txBody>
      </p:sp>
    </p:spTree>
    <p:extLst>
      <p:ext uri="{BB962C8B-B14F-4D97-AF65-F5344CB8AC3E}">
        <p14:creationId xmlns:p14="http://schemas.microsoft.com/office/powerpoint/2010/main" val="32274489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5C181716-6A0E-43F9-A864-3D786D27C664}"/>
              </a:ext>
            </a:extLst>
          </p:cNvPr>
          <p:cNvSpPr txBox="1"/>
          <p:nvPr/>
        </p:nvSpPr>
        <p:spPr>
          <a:xfrm>
            <a:off x="2267712" y="455414"/>
            <a:ext cx="29646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419" sz="24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Repositorio GitHub </a:t>
            </a:r>
            <a:endParaRPr lang="es-419" sz="2400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977C72E9-5FDE-49A9-A04E-2F7F5A5D0D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252" y="1292352"/>
            <a:ext cx="5227204" cy="3916144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08B83454-7A2E-41FE-9FFB-07642635F780}"/>
              </a:ext>
            </a:extLst>
          </p:cNvPr>
          <p:cNvSpPr txBox="1"/>
          <p:nvPr/>
        </p:nvSpPr>
        <p:spPr>
          <a:xfrm>
            <a:off x="7437120" y="1462963"/>
            <a:ext cx="427939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419" dirty="0">
                <a:hlinkClick r:id="rId3"/>
              </a:rPr>
              <a:t>https://github.com/eg9656517-collab/Integrador-III</a:t>
            </a:r>
            <a:r>
              <a:rPr lang="es-419" dirty="0"/>
              <a:t> 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DB220C67-EB18-4BE2-AACA-071C793C1A36}"/>
              </a:ext>
            </a:extLst>
          </p:cNvPr>
          <p:cNvSpPr txBox="1"/>
          <p:nvPr/>
        </p:nvSpPr>
        <p:spPr>
          <a:xfrm>
            <a:off x="7437120" y="771668"/>
            <a:ext cx="12070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419" sz="1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Enlace </a:t>
            </a:r>
            <a:endParaRPr lang="es-419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02EEB55B-2797-4F09-B8A6-E6E88A014998}"/>
              </a:ext>
            </a:extLst>
          </p:cNvPr>
          <p:cNvSpPr txBox="1"/>
          <p:nvPr/>
        </p:nvSpPr>
        <p:spPr>
          <a:xfrm>
            <a:off x="8056939" y="2431257"/>
            <a:ext cx="12013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419" sz="1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QR</a:t>
            </a:r>
            <a:endParaRPr lang="es-419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B8DC5FCC-5FAD-482D-AE8A-9DDED3F0331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3440" y="2800589"/>
            <a:ext cx="3819335" cy="3570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60507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9AA7AEE5-ACE1-4AA8-B5F3-6E5B4032FCB2}"/>
              </a:ext>
            </a:extLst>
          </p:cNvPr>
          <p:cNvSpPr txBox="1"/>
          <p:nvPr/>
        </p:nvSpPr>
        <p:spPr>
          <a:xfrm>
            <a:off x="4315968" y="516374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419" sz="24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Evidencias de trabajo</a:t>
            </a:r>
            <a:endParaRPr lang="es-419" sz="2400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DBF6967-02AD-4EFA-9BC7-A84A7AA67A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943" y="1632580"/>
            <a:ext cx="4497858" cy="359284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862D5E78-EDA4-4ABC-A36D-54710DE2626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3102" y="1632580"/>
            <a:ext cx="5577358" cy="3877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24973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A7BF9239-FC43-62EB-3548-1F0774B876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-14065"/>
            <a:ext cx="12217004" cy="6872065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93CD79B0-10C9-4403-9580-A8F5B1215E5F}"/>
              </a:ext>
            </a:extLst>
          </p:cNvPr>
          <p:cNvSpPr txBox="1"/>
          <p:nvPr/>
        </p:nvSpPr>
        <p:spPr>
          <a:xfrm>
            <a:off x="3041904" y="863846"/>
            <a:ext cx="610819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419" sz="3200" b="1" i="0" u="none" strike="noStrike" dirty="0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Muchas gracias por su atención</a:t>
            </a:r>
            <a:endParaRPr lang="es-419" sz="3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237766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</TotalTime>
  <Words>450</Words>
  <Application>Microsoft Office PowerPoint</Application>
  <PresentationFormat>Panorámica</PresentationFormat>
  <Paragraphs>126</Paragraphs>
  <Slides>15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25" baseType="lpstr">
      <vt:lpstr>Arial</vt:lpstr>
      <vt:lpstr>Calibri</vt:lpstr>
      <vt:lpstr>Calibri cuerpo</vt:lpstr>
      <vt:lpstr>Calibri Light</vt:lpstr>
      <vt:lpstr>Fira Sans Medium</vt:lpstr>
      <vt:lpstr>Fira Sans Semi-Bold</vt:lpstr>
      <vt:lpstr>Open Sauce</vt:lpstr>
      <vt:lpstr>Times New Roman</vt:lpstr>
      <vt:lpstr>Tw Cen MT</vt:lpstr>
      <vt:lpstr>Tema de Office</vt:lpstr>
      <vt:lpstr>Presentación de PowerPoint</vt:lpstr>
      <vt:lpstr>Objetivos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Marvin Antonio Gutiérrez Rodríguez</dc:creator>
  <cp:lastModifiedBy>Eduardo Jesus Gudiel Gonzalez</cp:lastModifiedBy>
  <cp:revision>23</cp:revision>
  <cp:lastPrinted>2024-02-08T19:25:25Z</cp:lastPrinted>
  <dcterms:created xsi:type="dcterms:W3CDTF">2021-03-17T19:41:32Z</dcterms:created>
  <dcterms:modified xsi:type="dcterms:W3CDTF">2026-06-20T14:44:09Z</dcterms:modified>
</cp:coreProperties>
</file>