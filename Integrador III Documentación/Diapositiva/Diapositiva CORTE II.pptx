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4" r:id="rId3"/>
    <p:sldId id="263" r:id="rId4"/>
    <p:sldId id="262" r:id="rId5"/>
    <p:sldId id="260" r:id="rId6"/>
    <p:sldId id="265" r:id="rId7"/>
    <p:sldId id="266" r:id="rId8"/>
    <p:sldId id="267" r:id="rId9"/>
    <p:sldId id="268" r:id="rId10"/>
    <p:sldId id="269" r:id="rId11"/>
    <p:sldId id="258" r:id="rId1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EB2CB1-6CC0-52DE-E79B-219F242B7F79}" name="Francisco Llanes" initials="F" userId="S::fllanes@unan.edu.ni::5aee38f5-860e-4bfb-9e87-62f4c259d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422"/>
    <a:srgbClr val="174473"/>
    <a:srgbClr val="FAB718"/>
    <a:srgbClr val="0D9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2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E096D6C2-88C4-41EE-9ECB-BAD832CF12AB}" type="datetimeFigureOut">
              <a:rPr lang="es-NI" smtClean="0"/>
              <a:t>15/5/2026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8644883-4F96-4370-91F7-EC4CCCC9A88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26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" y="1789"/>
            <a:ext cx="12188817" cy="685621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44282" y="1840523"/>
            <a:ext cx="5231026" cy="2149351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44281" y="4242486"/>
            <a:ext cx="5231026" cy="118145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744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1" y="1856"/>
            <a:ext cx="12185521" cy="685435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74473"/>
                </a:solidFill>
                <a:latin typeface="Calibri cuerpo"/>
              </a:defRPr>
            </a:lvl1pPr>
            <a:lvl2pPr>
              <a:defRPr>
                <a:solidFill>
                  <a:srgbClr val="174473"/>
                </a:solidFill>
                <a:latin typeface="Calibri cuerpo"/>
              </a:defRPr>
            </a:lvl2pPr>
            <a:lvl3pPr>
              <a:defRPr>
                <a:solidFill>
                  <a:srgbClr val="174473"/>
                </a:solidFill>
                <a:latin typeface="Calibri cuerpo"/>
              </a:defRPr>
            </a:lvl3pPr>
            <a:lvl4pPr>
              <a:defRPr>
                <a:solidFill>
                  <a:srgbClr val="174473"/>
                </a:solidFill>
                <a:latin typeface="Calibri cuerpo"/>
              </a:defRPr>
            </a:lvl4pPr>
            <a:lvl5pPr>
              <a:defRPr>
                <a:solidFill>
                  <a:srgbClr val="174473"/>
                </a:solidFill>
                <a:latin typeface="Calibri cuerpo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5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4116-522A-43FA-A07B-AF425C3CADE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14511EB-8DFB-45CC-8631-9B9AB8256877}"/>
              </a:ext>
            </a:extLst>
          </p:cNvPr>
          <p:cNvSpPr txBox="1"/>
          <p:nvPr/>
        </p:nvSpPr>
        <p:spPr>
          <a:xfrm>
            <a:off x="-304800" y="4514380"/>
            <a:ext cx="6096000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050" b="1" i="1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«2026: Por una Educación al Servicio del Pueblo, ¡Viva Sandino!»</a:t>
            </a:r>
            <a:endParaRPr lang="es-419" sz="1050" b="0" dirty="0">
              <a:effectLst/>
            </a:endParaRPr>
          </a:p>
          <a:p>
            <a:br>
              <a:rPr lang="es-419" dirty="0"/>
            </a:b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61264B-2A35-4044-B40C-88C664A96E90}"/>
              </a:ext>
            </a:extLst>
          </p:cNvPr>
          <p:cNvSpPr txBox="1"/>
          <p:nvPr/>
        </p:nvSpPr>
        <p:spPr>
          <a:xfrm>
            <a:off x="2453640" y="527738"/>
            <a:ext cx="624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CENTRO UNIVERSITARIO REGIONAL DE CHONTALES</a:t>
            </a:r>
            <a:endParaRPr lang="es-419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“Cornelio Silva Argüello”</a:t>
            </a:r>
            <a:endParaRPr lang="es-419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UNAN Managua, CUR Chontales</a:t>
            </a:r>
            <a:endParaRPr lang="es-419" b="0" dirty="0">
              <a:effectLst/>
            </a:endParaRPr>
          </a:p>
          <a:p>
            <a:br>
              <a:rPr lang="es-419" dirty="0"/>
            </a:b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2B8005-8AB6-4A3C-B77A-A7F23FCCE9EB}"/>
              </a:ext>
            </a:extLst>
          </p:cNvPr>
          <p:cNvSpPr txBox="1"/>
          <p:nvPr/>
        </p:nvSpPr>
        <p:spPr>
          <a:xfrm>
            <a:off x="4511040" y="2402468"/>
            <a:ext cx="7534656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419" sz="20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Desarrollo de un sistema de escritorio para la gestión de préstamos Bibliotecarios en el Instituto </a:t>
            </a:r>
            <a:r>
              <a:rPr lang="es-419" sz="2000" b="1" i="1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</a:rPr>
              <a:t>“San Juan Bautista” Cuapa</a:t>
            </a:r>
            <a:r>
              <a:rPr lang="es-419" sz="2000" b="1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s-419" sz="2000" b="1" dirty="0">
              <a:solidFill>
                <a:schemeClr val="accent6"/>
              </a:solidFill>
              <a:effectLst/>
            </a:endParaRPr>
          </a:p>
          <a:p>
            <a:br>
              <a:rPr lang="es-419" dirty="0"/>
            </a:b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1C77E2-D4B8-4D24-BFFC-B4AB5458C7D6}"/>
              </a:ext>
            </a:extLst>
          </p:cNvPr>
          <p:cNvSpPr txBox="1"/>
          <p:nvPr/>
        </p:nvSpPr>
        <p:spPr>
          <a:xfrm>
            <a:off x="3285744" y="3151170"/>
            <a:ext cx="6278880" cy="808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Integrantes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3F18689-45D7-4668-8A9B-01AA32B8D6DF}"/>
              </a:ext>
            </a:extLst>
          </p:cNvPr>
          <p:cNvSpPr txBox="1"/>
          <p:nvPr/>
        </p:nvSpPr>
        <p:spPr>
          <a:xfrm>
            <a:off x="3371088" y="4030656"/>
            <a:ext cx="627888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Alexis Vargas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Andersson Duvaniel Gómez</a:t>
            </a:r>
            <a:endParaRPr lang="en-US" sz="18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   Eduardo Jesús Gudiel González</a:t>
            </a:r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Francis Nallely Ayala Calero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Francisco José Castillo</a:t>
            </a:r>
            <a:endParaRPr lang="en-US" sz="18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8CAE517-47B9-4D74-BB75-7593155DFFDB}"/>
              </a:ext>
            </a:extLst>
          </p:cNvPr>
          <p:cNvSpPr txBox="1"/>
          <p:nvPr/>
        </p:nvSpPr>
        <p:spPr>
          <a:xfrm>
            <a:off x="7659624" y="5758451"/>
            <a:ext cx="624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16 de Mayo, 2026</a:t>
            </a:r>
            <a:endParaRPr lang="es-419" b="0" dirty="0">
              <a:effectLst/>
            </a:endParaRPr>
          </a:p>
          <a:p>
            <a:br>
              <a:rPr lang="es-419" dirty="0"/>
            </a:b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14059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22D1ED-9DCB-4824-90CC-33C8C6A12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 Objetivo general:</a:t>
            </a: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 Desarrollar un sistema de escritorio</a:t>
            </a:r>
          </a:p>
          <a:p>
            <a:pPr mar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 para la gestión de préstamos de libros para una biblioteca</a:t>
            </a:r>
          </a:p>
          <a:p>
            <a:pPr mar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 que permita registrar, controlar y administrar de manera </a:t>
            </a:r>
          </a:p>
          <a:p>
            <a:pPr mar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419" sz="180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eficiente los préstamos y devoluciones de libros.</a:t>
            </a:r>
            <a:endParaRPr lang="es-419" b="0" dirty="0">
              <a:effectLst/>
            </a:endParaRPr>
          </a:p>
          <a:p>
            <a:pPr marL="0" indent="0">
              <a:buNone/>
            </a:pPr>
            <a:endParaRPr lang="es-419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A5E19E4-7F5C-4FBB-A894-75A56C460F23}"/>
              </a:ext>
            </a:extLst>
          </p:cNvPr>
          <p:cNvSpPr/>
          <p:nvPr/>
        </p:nvSpPr>
        <p:spPr>
          <a:xfrm>
            <a:off x="670560" y="73978"/>
            <a:ext cx="4157472" cy="745595"/>
          </a:xfrm>
          <a:prstGeom prst="rect">
            <a:avLst/>
          </a:prstGeom>
          <a:solidFill>
            <a:srgbClr val="D2F4EB"/>
          </a:solidFill>
        </p:spPr>
        <p:txBody>
          <a:bodyPr/>
          <a:lstStyle/>
          <a:p>
            <a:endParaRPr lang="es-419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A6FA12-E4AE-46F0-8930-16E251C9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663" y="458603"/>
            <a:ext cx="2627537" cy="596317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Objetivo</a:t>
            </a:r>
            <a:b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</a:b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65EC16CE-F1F8-4D12-9410-9255FFE20DC4}"/>
              </a:ext>
            </a:extLst>
          </p:cNvPr>
          <p:cNvSpPr/>
          <p:nvPr/>
        </p:nvSpPr>
        <p:spPr>
          <a:xfrm rot="10800000">
            <a:off x="9342938" y="4001294"/>
            <a:ext cx="2849062" cy="2854252"/>
          </a:xfrm>
          <a:custGeom>
            <a:avLst/>
            <a:gdLst/>
            <a:ahLst/>
            <a:cxnLst/>
            <a:rect l="l" t="t" r="r" b="b"/>
            <a:pathLst>
              <a:path w="2849062" h="2854252">
                <a:moveTo>
                  <a:pt x="0" y="0"/>
                </a:moveTo>
                <a:lnTo>
                  <a:pt x="2849063" y="0"/>
                </a:lnTo>
                <a:lnTo>
                  <a:pt x="2849063" y="2854251"/>
                </a:lnTo>
                <a:lnTo>
                  <a:pt x="0" y="285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5973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B4CC-065F-C12E-E76D-7784420D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Descripción de la problematica</a:t>
            </a:r>
            <a:b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En la biblioteca, del instituto “San Juan Bautista” Cuapa, el </a:t>
            </a:r>
          </a:p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control de préstamos y devoluciones de libros se realiza de </a:t>
            </a:r>
          </a:p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forma manual o mediante registros básicos que no garantizan </a:t>
            </a:r>
          </a:p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una gestión eficiente de la información. Para darle solución a</a:t>
            </a:r>
          </a:p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la problemática, se propone el desarrollo de un sistema que </a:t>
            </a:r>
          </a:p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Permita automatizar los procesos relacionados con el registro, </a:t>
            </a:r>
          </a:p>
          <a:p>
            <a:pPr marL="0" indent="0" algn="just">
              <a:buNone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control de préstamo. </a:t>
            </a:r>
            <a:endParaRPr lang="es-419" b="0" dirty="0">
              <a:effectLst/>
            </a:endParaRP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4754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F7C6B-3A8F-1503-C7B3-D6566C05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560" y="162877"/>
            <a:ext cx="6842760" cy="103632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Planificación Scrum</a:t>
            </a:r>
            <a:b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</a:br>
            <a:endParaRPr lang="es-NI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DC35F0F-A4E9-4E00-9B32-360205292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524131"/>
              </p:ext>
            </p:extLst>
          </p:nvPr>
        </p:nvGraphicFramePr>
        <p:xfrm>
          <a:off x="5142178" y="932363"/>
          <a:ext cx="4103012" cy="5315103"/>
        </p:xfrm>
        <a:graphic>
          <a:graphicData uri="http://schemas.openxmlformats.org/drawingml/2006/table">
            <a:tbl>
              <a:tblPr/>
              <a:tblGrid>
                <a:gridCol w="230271">
                  <a:extLst>
                    <a:ext uri="{9D8B030D-6E8A-4147-A177-3AD203B41FA5}">
                      <a16:colId xmlns:a16="http://schemas.microsoft.com/office/drawing/2014/main" val="2291778631"/>
                    </a:ext>
                  </a:extLst>
                </a:gridCol>
                <a:gridCol w="3872741">
                  <a:extLst>
                    <a:ext uri="{9D8B030D-6E8A-4147-A177-3AD203B41FA5}">
                      <a16:colId xmlns:a16="http://schemas.microsoft.com/office/drawing/2014/main" val="913626133"/>
                    </a:ext>
                  </a:extLst>
                </a:gridCol>
              </a:tblGrid>
              <a:tr h="234983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Funcionalidades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597881"/>
                  </a:ext>
                </a:extLst>
              </a:tr>
              <a:tr h="3386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Inicio de sesión: los usuarios tienen que iniciar sesión mediante un nombre de usuario y contraseña.</a:t>
                      </a:r>
                      <a:endParaRPr lang="es-419" sz="1100" dirty="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193503"/>
                  </a:ext>
                </a:extLst>
              </a:tr>
              <a:tr h="3386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Registrar Usuario: el sistema debe permitir registrar, modificar, eliminar y consultar usuarios.</a:t>
                      </a:r>
                      <a:endParaRPr lang="es-419" sz="1100" dirty="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376322"/>
                  </a:ext>
                </a:extLst>
              </a:tr>
              <a:tr h="20320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Modificación de usuario: el sistema debe permitir editar los datos de los usuarios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735060"/>
                  </a:ext>
                </a:extLst>
              </a:tr>
              <a:tr h="474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Eliminación/desactivación de usuarios: el sistema debe permitir eliminar o desactivar usuarios, solicitando confirmación previa y verificando que no tengan préstamos activos antes de proceder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909236"/>
                  </a:ext>
                </a:extLst>
              </a:tr>
              <a:tr h="3386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Consultar usuarios: el sistema debe permitir visualizar el listado de usuarios, buscar por nombre o email, filtrar por rol y ver los detalles de cada usuario.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464908"/>
                  </a:ext>
                </a:extLst>
              </a:tr>
              <a:tr h="3386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libros: el sistema debe permitir registrar libros en el catálogo de la biblioteca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145378"/>
                  </a:ext>
                </a:extLst>
              </a:tr>
              <a:tr h="474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préstamos y devoluciones: el sistema debe permitir registrar el préstamo, guardando la fecha del préstamo, fecha de devolución y actualizar el inventario disponible.</a:t>
                      </a:r>
                      <a:endParaRPr lang="es-419" sz="1100" dirty="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662878"/>
                  </a:ext>
                </a:extLst>
              </a:tr>
              <a:tr h="3386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Consulta de historial de préstamo: el sistema debe permitir consultar el historial de préstamos realizados.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673668"/>
                  </a:ext>
                </a:extLst>
              </a:tr>
              <a:tr h="33867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Generación de reportes: se debe de poder generar reportes automáticos de préstamos, devoluciones y libros disponibles.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449513"/>
                  </a:ext>
                </a:extLst>
              </a:tr>
              <a:tr h="474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Recuperación de contraseña: el sistema debe permitir a los usuarios restablecer su contraseña olvidada mediante el envío de un enlace seguro a su correo electrónico registrado, con validez limitada y de un solo uso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813064"/>
                  </a:ext>
                </a:extLst>
              </a:tr>
              <a:tr h="474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sistema debe permitir definir y asignar diferentes roles (Administrador, Bibliotecario, Lector) con permisos específicos para cada uno, controlando el acceso a las funcionalidades según el nivel de cada usuario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856394"/>
                  </a:ext>
                </a:extLst>
              </a:tr>
              <a:tr h="474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Notificaciones automáticas: el sistema debe enviar recordatorios automáticos por correo electrónico a los usuarios sobre fechas próximas de devolución, préstamos vencidos y confirmaciones de reservas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032919"/>
                  </a:ext>
                </a:extLst>
              </a:tr>
              <a:tr h="474144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  <a:endParaRPr lang="es-419" sz="110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Renovación de préstamos: el sistema debe permitir a los lectores renovar sus préstamos activos por un período adicional, siempre que el libro no tenga reservas pendientes de otros usuarios</a:t>
                      </a:r>
                      <a:endParaRPr lang="es-419" sz="1100" dirty="0">
                        <a:effectLst/>
                      </a:endParaRPr>
                    </a:p>
                  </a:txBody>
                  <a:tcPr marL="41662" marR="41662" marT="27774" marB="2777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7506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06543F6-56B5-40AB-B992-8F8CD816E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607" y="1183609"/>
            <a:ext cx="384444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s-419" altLang="es-419" sz="16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funcionalidades del sistema bibliotecario</a:t>
            </a:r>
            <a:endParaRPr kumimoji="0" lang="es-419" altLang="es-419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74B1E13-A8EE-4CEF-B927-28149319E1E3}"/>
              </a:ext>
            </a:extLst>
          </p:cNvPr>
          <p:cNvSpPr/>
          <p:nvPr/>
        </p:nvSpPr>
        <p:spPr>
          <a:xfrm>
            <a:off x="362607" y="2593427"/>
            <a:ext cx="3888421" cy="2848979"/>
          </a:xfrm>
          <a:custGeom>
            <a:avLst/>
            <a:gdLst/>
            <a:ahLst/>
            <a:cxnLst/>
            <a:rect l="l" t="t" r="r" b="b"/>
            <a:pathLst>
              <a:path w="3888421" h="2848979">
                <a:moveTo>
                  <a:pt x="0" y="0"/>
                </a:moveTo>
                <a:lnTo>
                  <a:pt x="3888421" y="0"/>
                </a:lnTo>
                <a:lnTo>
                  <a:pt x="3888421" y="2848978"/>
                </a:lnTo>
                <a:lnTo>
                  <a:pt x="0" y="2848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46" r="-19689" b="-6288"/>
            </a:stretch>
          </a:blipFill>
        </p:spPr>
      </p:sp>
    </p:spTree>
    <p:extLst>
      <p:ext uri="{BB962C8B-B14F-4D97-AF65-F5344CB8AC3E}">
        <p14:creationId xmlns:p14="http://schemas.microsoft.com/office/powerpoint/2010/main" val="396772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EB705-7A63-19D7-6C1C-57D50F88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252" y="109120"/>
            <a:ext cx="6942221" cy="1325563"/>
          </a:xfrm>
        </p:spPr>
        <p:txBody>
          <a:bodyPr/>
          <a:lstStyle/>
          <a:p>
            <a:r>
              <a:rPr lang="es-419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Product Backlog Priorizado</a:t>
            </a:r>
            <a:br>
              <a:rPr lang="es-419" sz="4400" dirty="0"/>
            </a:br>
            <a:endParaRPr lang="es-ES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B09BB0ED-4D37-4A6C-920F-4FF3362F4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543967"/>
              </p:ext>
            </p:extLst>
          </p:nvPr>
        </p:nvGraphicFramePr>
        <p:xfrm>
          <a:off x="3962635" y="940526"/>
          <a:ext cx="4933171" cy="5290458"/>
        </p:xfrm>
        <a:graphic>
          <a:graphicData uri="http://schemas.openxmlformats.org/drawingml/2006/table">
            <a:tbl>
              <a:tblPr/>
              <a:tblGrid>
                <a:gridCol w="451510">
                  <a:extLst>
                    <a:ext uri="{9D8B030D-6E8A-4147-A177-3AD203B41FA5}">
                      <a16:colId xmlns:a16="http://schemas.microsoft.com/office/drawing/2014/main" val="546276610"/>
                    </a:ext>
                  </a:extLst>
                </a:gridCol>
                <a:gridCol w="1287642">
                  <a:extLst>
                    <a:ext uri="{9D8B030D-6E8A-4147-A177-3AD203B41FA5}">
                      <a16:colId xmlns:a16="http://schemas.microsoft.com/office/drawing/2014/main" val="1623103551"/>
                    </a:ext>
                  </a:extLst>
                </a:gridCol>
                <a:gridCol w="760879">
                  <a:extLst>
                    <a:ext uri="{9D8B030D-6E8A-4147-A177-3AD203B41FA5}">
                      <a16:colId xmlns:a16="http://schemas.microsoft.com/office/drawing/2014/main" val="957609794"/>
                    </a:ext>
                  </a:extLst>
                </a:gridCol>
                <a:gridCol w="894659">
                  <a:extLst>
                    <a:ext uri="{9D8B030D-6E8A-4147-A177-3AD203B41FA5}">
                      <a16:colId xmlns:a16="http://schemas.microsoft.com/office/drawing/2014/main" val="327108280"/>
                    </a:ext>
                  </a:extLst>
                </a:gridCol>
                <a:gridCol w="794325">
                  <a:extLst>
                    <a:ext uri="{9D8B030D-6E8A-4147-A177-3AD203B41FA5}">
                      <a16:colId xmlns:a16="http://schemas.microsoft.com/office/drawing/2014/main" val="3163141982"/>
                    </a:ext>
                  </a:extLst>
                </a:gridCol>
                <a:gridCol w="744156">
                  <a:extLst>
                    <a:ext uri="{9D8B030D-6E8A-4147-A177-3AD203B41FA5}">
                      <a16:colId xmlns:a16="http://schemas.microsoft.com/office/drawing/2014/main" val="4050996366"/>
                    </a:ext>
                  </a:extLst>
                </a:gridCol>
              </a:tblGrid>
              <a:tr h="53451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lD</a:t>
                      </a:r>
                      <a:endParaRPr lang="es-419" sz="900" b="1" dirty="0">
                        <a:effectLst/>
                      </a:endParaRPr>
                    </a:p>
                  </a:txBody>
                  <a:tcPr marL="30581" marR="30581" marT="22018" marB="2201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Historia de Usuario</a:t>
                      </a:r>
                      <a:endParaRPr lang="es-419" sz="900" b="1" dirty="0">
                        <a:effectLst/>
                      </a:endParaRPr>
                    </a:p>
                  </a:txBody>
                  <a:tcPr marL="30581" marR="30581" marT="22018" marB="2201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Importancia</a:t>
                      </a:r>
                      <a:endParaRPr lang="es-419" sz="900" b="1" dirty="0">
                        <a:effectLst/>
                      </a:endParaRPr>
                    </a:p>
                  </a:txBody>
                  <a:tcPr marL="30581" marR="30581" marT="22018" marB="2201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Spring programado</a:t>
                      </a:r>
                      <a:endParaRPr lang="es-419" sz="900" b="1" dirty="0">
                        <a:effectLst/>
                      </a:endParaRPr>
                    </a:p>
                  </a:txBody>
                  <a:tcPr marL="30581" marR="30581" marT="22018" marB="2201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Fecha de inicio</a:t>
                      </a:r>
                      <a:endParaRPr lang="es-419" sz="900" b="1" dirty="0">
                        <a:effectLst/>
                      </a:endParaRPr>
                    </a:p>
                  </a:txBody>
                  <a:tcPr marL="30581" marR="30581" marT="22018" marB="2201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Fecha fin</a:t>
                      </a:r>
                      <a:endParaRPr lang="es-419" sz="900" b="1" dirty="0">
                        <a:effectLst/>
                      </a:endParaRPr>
                    </a:p>
                  </a:txBody>
                  <a:tcPr marL="30581" marR="30581" marT="22018" marB="2201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510363"/>
                  </a:ext>
                </a:extLst>
              </a:tr>
              <a:tr h="33314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HU01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Inicio de Sesión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25/03/2026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20/05/2026</a:t>
                      </a:r>
                      <a:endParaRPr lang="es-419" sz="900" dirty="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03514"/>
                  </a:ext>
                </a:extLst>
              </a:tr>
              <a:tr h="33314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HU02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usuario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27/03/2026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650266"/>
                  </a:ext>
                </a:extLst>
              </a:tr>
              <a:tr h="33314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libros 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29/03/2026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019436"/>
                  </a:ext>
                </a:extLst>
              </a:tr>
              <a:tr h="33314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HU07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préstamo y Devolución 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584782"/>
                  </a:ext>
                </a:extLst>
              </a:tr>
              <a:tr h="33314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HU05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Consulta de usuario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02/06/2026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243956"/>
                  </a:ext>
                </a:extLst>
              </a:tr>
              <a:tr h="70361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HU13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Renovación de préstamos </a:t>
                      </a:r>
                      <a:endParaRPr lang="es-419" sz="900">
                        <a:effectLst/>
                      </a:endParaRPr>
                    </a:p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419" sz="900" dirty="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  <a:endParaRPr lang="es-419" sz="900" dirty="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367692"/>
                  </a:ext>
                </a:extLst>
              </a:tr>
              <a:tr h="35200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HU09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Generación de reportes automáticos 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10/06/2026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49215"/>
                  </a:ext>
                </a:extLst>
              </a:tr>
              <a:tr h="33314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Recuperación de contraseña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14/06/2026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87374"/>
                  </a:ext>
                </a:extLst>
              </a:tr>
              <a:tr h="33587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HU11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Gestión de roles y permisos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25/04/2026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849814"/>
                  </a:ext>
                </a:extLst>
              </a:tr>
              <a:tr h="39757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HU03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Modificación de usuarios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80110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HU08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Modificación de usuarios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30/05/2026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90852"/>
                  </a:ext>
                </a:extLst>
              </a:tr>
              <a:tr h="31114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HU12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Notificaciones automáticas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01/07/2026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04/07/2026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921627"/>
                  </a:ext>
                </a:extLst>
              </a:tr>
              <a:tr h="34572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Eliminar usuario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05/07/2026</a:t>
                      </a:r>
                      <a:endParaRPr lang="es-419" sz="90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16/07/2026</a:t>
                      </a:r>
                      <a:endParaRPr lang="es-419" sz="900" dirty="0">
                        <a:effectLst/>
                      </a:endParaRPr>
                    </a:p>
                  </a:txBody>
                  <a:tcPr marL="30581" marR="30581" marT="22018" marB="2201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023960"/>
                  </a:ext>
                </a:extLst>
              </a:tr>
            </a:tbl>
          </a:graphicData>
        </a:graphic>
      </p:graphicFrame>
      <p:sp>
        <p:nvSpPr>
          <p:cNvPr id="4" name="Freeform 4">
            <a:extLst>
              <a:ext uri="{FF2B5EF4-FFF2-40B4-BE49-F238E27FC236}">
                <a16:creationId xmlns:a16="http://schemas.microsoft.com/office/drawing/2014/main" id="{A78CE7C5-88B2-4ECD-B684-A8CD978BED43}"/>
              </a:ext>
            </a:extLst>
          </p:cNvPr>
          <p:cNvSpPr/>
          <p:nvPr/>
        </p:nvSpPr>
        <p:spPr>
          <a:xfrm>
            <a:off x="838200" y="109120"/>
            <a:ext cx="732406" cy="665824"/>
          </a:xfrm>
          <a:custGeom>
            <a:avLst/>
            <a:gdLst/>
            <a:ahLst/>
            <a:cxnLst/>
            <a:rect l="l" t="t" r="r" b="b"/>
            <a:pathLst>
              <a:path w="732406" h="665824">
                <a:moveTo>
                  <a:pt x="0" y="0"/>
                </a:moveTo>
                <a:lnTo>
                  <a:pt x="732406" y="0"/>
                </a:lnTo>
                <a:lnTo>
                  <a:pt x="732406" y="665824"/>
                </a:lnTo>
                <a:lnTo>
                  <a:pt x="0" y="66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D4AAA9-869A-4647-8AAB-9C9295020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786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9FBD9-FC3C-49D8-8021-0CC590C1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Mapeo de procesos</a:t>
            </a:r>
            <a:b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</a:br>
            <a:endParaRPr lang="es-419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A5FC3F7-8F1B-4529-B3CF-10C235595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92" y="1690688"/>
            <a:ext cx="6377888" cy="3662362"/>
          </a:xfrm>
        </p:spPr>
      </p:pic>
      <p:sp>
        <p:nvSpPr>
          <p:cNvPr id="4" name="Freeform 2">
            <a:extLst>
              <a:ext uri="{FF2B5EF4-FFF2-40B4-BE49-F238E27FC236}">
                <a16:creationId xmlns:a16="http://schemas.microsoft.com/office/drawing/2014/main" id="{250CABDE-3B10-48BF-A8DC-B66DE1B7A655}"/>
              </a:ext>
            </a:extLst>
          </p:cNvPr>
          <p:cNvSpPr/>
          <p:nvPr/>
        </p:nvSpPr>
        <p:spPr>
          <a:xfrm>
            <a:off x="9634093" y="4170754"/>
            <a:ext cx="2398900" cy="1596359"/>
          </a:xfrm>
          <a:custGeom>
            <a:avLst/>
            <a:gdLst/>
            <a:ahLst/>
            <a:cxnLst/>
            <a:rect l="l" t="t" r="r" b="b"/>
            <a:pathLst>
              <a:path w="2398900" h="1596359">
                <a:moveTo>
                  <a:pt x="0" y="0"/>
                </a:moveTo>
                <a:lnTo>
                  <a:pt x="2398900" y="0"/>
                </a:lnTo>
                <a:lnTo>
                  <a:pt x="2398900" y="1596358"/>
                </a:lnTo>
                <a:lnTo>
                  <a:pt x="0" y="1596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8327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3A793-D987-4496-8D6C-9C30350B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7" y="-1"/>
            <a:ext cx="11517923" cy="1325563"/>
          </a:xfrm>
        </p:spPr>
        <p:txBody>
          <a:bodyPr/>
          <a:lstStyle/>
          <a:p>
            <a:r>
              <a:rPr lang="es-419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Modelo físico de la base de datos (diagrama)</a:t>
            </a:r>
            <a:endParaRPr lang="es-419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D195EF9-A645-4FE0-B31F-63BE8609B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805" y="1325562"/>
            <a:ext cx="4788130" cy="4825856"/>
          </a:xfrm>
        </p:spPr>
      </p:pic>
      <p:sp>
        <p:nvSpPr>
          <p:cNvPr id="6" name="Freeform 2">
            <a:extLst>
              <a:ext uri="{FF2B5EF4-FFF2-40B4-BE49-F238E27FC236}">
                <a16:creationId xmlns:a16="http://schemas.microsoft.com/office/drawing/2014/main" id="{B90D53F5-3A34-4525-AB44-64385A6983D7}"/>
              </a:ext>
            </a:extLst>
          </p:cNvPr>
          <p:cNvSpPr/>
          <p:nvPr/>
        </p:nvSpPr>
        <p:spPr>
          <a:xfrm>
            <a:off x="8886873" y="3358662"/>
            <a:ext cx="3116298" cy="3116298"/>
          </a:xfrm>
          <a:custGeom>
            <a:avLst/>
            <a:gdLst/>
            <a:ahLst/>
            <a:cxnLst/>
            <a:rect l="l" t="t" r="r" b="b"/>
            <a:pathLst>
              <a:path w="3116298" h="3116298">
                <a:moveTo>
                  <a:pt x="0" y="0"/>
                </a:moveTo>
                <a:lnTo>
                  <a:pt x="3116298" y="0"/>
                </a:lnTo>
                <a:lnTo>
                  <a:pt x="3116298" y="3116298"/>
                </a:lnTo>
                <a:lnTo>
                  <a:pt x="0" y="3116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9866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8506C-2089-4491-B02A-C3B3DDA5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112" y="-122555"/>
            <a:ext cx="10515600" cy="1325563"/>
          </a:xfrm>
        </p:spPr>
        <p:txBody>
          <a:bodyPr/>
          <a:lstStyle/>
          <a:p>
            <a:r>
              <a:rPr lang="es-419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419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s-419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rquitectura del sistema biblioteca</a:t>
            </a:r>
            <a:endParaRPr lang="es-419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F7BE49F-4535-4357-9EE0-F6D8E8CD2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17" y="1312100"/>
            <a:ext cx="3455071" cy="4233799"/>
          </a:xfr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3A59DA82-EE71-4AF8-A861-8390C7489505}"/>
              </a:ext>
            </a:extLst>
          </p:cNvPr>
          <p:cNvSpPr/>
          <p:nvPr/>
        </p:nvSpPr>
        <p:spPr>
          <a:xfrm>
            <a:off x="8634984" y="2255519"/>
            <a:ext cx="3304032" cy="3892637"/>
          </a:xfrm>
          <a:custGeom>
            <a:avLst/>
            <a:gdLst/>
            <a:ahLst/>
            <a:cxnLst/>
            <a:rect l="l" t="t" r="r" b="b"/>
            <a:pathLst>
              <a:path w="5738668" h="6519254">
                <a:moveTo>
                  <a:pt x="0" y="0"/>
                </a:moveTo>
                <a:lnTo>
                  <a:pt x="5738668" y="0"/>
                </a:lnTo>
                <a:lnTo>
                  <a:pt x="5738668" y="6519254"/>
                </a:lnTo>
                <a:lnTo>
                  <a:pt x="0" y="6519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01" r="-6801"/>
            </a:stretch>
          </a:blipFill>
        </p:spPr>
      </p:sp>
    </p:spTree>
    <p:extLst>
      <p:ext uri="{BB962C8B-B14F-4D97-AF65-F5344CB8AC3E}">
        <p14:creationId xmlns:p14="http://schemas.microsoft.com/office/powerpoint/2010/main" val="94575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C97E8-01F0-4A47-9333-BA01B18C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552" y="-244475"/>
            <a:ext cx="4575048" cy="1325563"/>
          </a:xfrm>
        </p:spPr>
        <p:txBody>
          <a:bodyPr/>
          <a:lstStyle/>
          <a:p>
            <a:r>
              <a:rPr lang="es-419" dirty="0">
                <a:solidFill>
                  <a:srgbClr val="000000"/>
                </a:solidFill>
                <a:latin typeface="Times New Roman" panose="02020603050405020304" pitchFamily="18" charset="0"/>
              </a:rPr>
              <a:t>Diagramas UML</a:t>
            </a:r>
            <a:endParaRPr lang="es-419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4812120-C195-4414-8E10-FA8206C47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54" y="2313305"/>
            <a:ext cx="4575049" cy="3733927"/>
          </a:xfrm>
        </p:spPr>
      </p:pic>
      <p:grpSp>
        <p:nvGrpSpPr>
          <p:cNvPr id="6" name="Group 8">
            <a:extLst>
              <a:ext uri="{FF2B5EF4-FFF2-40B4-BE49-F238E27FC236}">
                <a16:creationId xmlns:a16="http://schemas.microsoft.com/office/drawing/2014/main" id="{FBD87666-B4C6-49B9-B4BB-AC2575AC29ED}"/>
              </a:ext>
            </a:extLst>
          </p:cNvPr>
          <p:cNvGrpSpPr/>
          <p:nvPr/>
        </p:nvGrpSpPr>
        <p:grpSpPr>
          <a:xfrm>
            <a:off x="1541182" y="1081088"/>
            <a:ext cx="3285591" cy="909446"/>
            <a:chOff x="71729" y="225529"/>
            <a:chExt cx="3361055" cy="1385551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8355A136-8DD6-4287-B15E-185897284AB3}"/>
                </a:ext>
              </a:extLst>
            </p:cNvPr>
            <p:cNvGrpSpPr/>
            <p:nvPr/>
          </p:nvGrpSpPr>
          <p:grpSpPr>
            <a:xfrm rot="-10800000">
              <a:off x="71729" y="225529"/>
              <a:ext cx="3361055" cy="1385551"/>
              <a:chOff x="3601141" y="-874427"/>
              <a:chExt cx="13031584" cy="5372100"/>
            </a:xfrm>
          </p:grpSpPr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5511AE17-021C-4958-B986-27A1C94241C7}"/>
                  </a:ext>
                </a:extLst>
              </p:cNvPr>
              <p:cNvSpPr/>
              <p:nvPr/>
            </p:nvSpPr>
            <p:spPr>
              <a:xfrm>
                <a:off x="3601141" y="-874427"/>
                <a:ext cx="13031584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16910833" h="5372100">
                    <a:moveTo>
                      <a:pt x="15360163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15360163" y="5372100"/>
                    </a:lnTo>
                    <a:lnTo>
                      <a:pt x="16910833" y="2686050"/>
                    </a:lnTo>
                    <a:lnTo>
                      <a:pt x="15360163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419" dirty="0"/>
              </a:p>
            </p:txBody>
          </p:sp>
        </p:grp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B34D061E-4537-46CA-94E3-FD2A8F130930}"/>
                </a:ext>
              </a:extLst>
            </p:cNvPr>
            <p:cNvSpPr txBox="1"/>
            <p:nvPr/>
          </p:nvSpPr>
          <p:spPr>
            <a:xfrm>
              <a:off x="102735" y="225529"/>
              <a:ext cx="3299043" cy="915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b="1" spc="-77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Diagrama de clase</a:t>
              </a: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A3386730-AE5E-4439-96D4-30CA4A7344E7}"/>
              </a:ext>
            </a:extLst>
          </p:cNvPr>
          <p:cNvGrpSpPr/>
          <p:nvPr/>
        </p:nvGrpSpPr>
        <p:grpSpPr>
          <a:xfrm>
            <a:off x="7204366" y="1081089"/>
            <a:ext cx="3285591" cy="909446"/>
            <a:chOff x="71729" y="225529"/>
            <a:chExt cx="3361055" cy="1385551"/>
          </a:xfrm>
        </p:grpSpPr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6BBFBD4B-9CE2-4DD6-92DD-73EACCEE38A7}"/>
                </a:ext>
              </a:extLst>
            </p:cNvPr>
            <p:cNvGrpSpPr/>
            <p:nvPr/>
          </p:nvGrpSpPr>
          <p:grpSpPr>
            <a:xfrm rot="-10800000">
              <a:off x="71729" y="225529"/>
              <a:ext cx="3361055" cy="1385551"/>
              <a:chOff x="3601141" y="-874427"/>
              <a:chExt cx="13031584" cy="5372100"/>
            </a:xfrm>
          </p:grpSpPr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8720276D-601E-4AB5-AD3F-3E25B00E0FCF}"/>
                  </a:ext>
                </a:extLst>
              </p:cNvPr>
              <p:cNvSpPr/>
              <p:nvPr/>
            </p:nvSpPr>
            <p:spPr>
              <a:xfrm>
                <a:off x="3601141" y="-874427"/>
                <a:ext cx="13031584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16910833" h="5372100">
                    <a:moveTo>
                      <a:pt x="15360163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15360163" y="5372100"/>
                    </a:lnTo>
                    <a:lnTo>
                      <a:pt x="16910833" y="2686050"/>
                    </a:lnTo>
                    <a:lnTo>
                      <a:pt x="15360163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419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669E25-70CC-447C-83ED-3CB44BE5E24A}"/>
                </a:ext>
              </a:extLst>
            </p:cNvPr>
            <p:cNvSpPr txBox="1"/>
            <p:nvPr/>
          </p:nvSpPr>
          <p:spPr>
            <a:xfrm>
              <a:off x="102735" y="225529"/>
              <a:ext cx="3299043" cy="915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b="1" spc="-77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Caso de uso</a:t>
              </a: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7102CB24-188E-4168-B02D-99B8442108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378" y="2313304"/>
            <a:ext cx="4759638" cy="373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8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1A5BFAB-1C48-4916-9B18-DC50E48E9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206" y="1801241"/>
            <a:ext cx="2359907" cy="4351338"/>
          </a:xfrm>
        </p:spPr>
      </p:pic>
      <p:grpSp>
        <p:nvGrpSpPr>
          <p:cNvPr id="4" name="Group 8">
            <a:extLst>
              <a:ext uri="{FF2B5EF4-FFF2-40B4-BE49-F238E27FC236}">
                <a16:creationId xmlns:a16="http://schemas.microsoft.com/office/drawing/2014/main" id="{7B8A1EC5-F4B0-427F-8C98-B2E06B652020}"/>
              </a:ext>
            </a:extLst>
          </p:cNvPr>
          <p:cNvGrpSpPr/>
          <p:nvPr/>
        </p:nvGrpSpPr>
        <p:grpSpPr>
          <a:xfrm>
            <a:off x="2764446" y="379955"/>
            <a:ext cx="5505794" cy="909446"/>
            <a:chOff x="71729" y="225529"/>
            <a:chExt cx="3361055" cy="1385551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7EB86DDF-06F3-4DE4-91EB-E45E45D35409}"/>
                </a:ext>
              </a:extLst>
            </p:cNvPr>
            <p:cNvGrpSpPr/>
            <p:nvPr/>
          </p:nvGrpSpPr>
          <p:grpSpPr>
            <a:xfrm rot="-10800000">
              <a:off x="71729" y="225529"/>
              <a:ext cx="3361055" cy="1385551"/>
              <a:chOff x="3601141" y="-874427"/>
              <a:chExt cx="13031584" cy="5372100"/>
            </a:xfrm>
          </p:grpSpPr>
          <p:sp>
            <p:nvSpPr>
              <p:cNvPr id="7" name="Freeform 10">
                <a:extLst>
                  <a:ext uri="{FF2B5EF4-FFF2-40B4-BE49-F238E27FC236}">
                    <a16:creationId xmlns:a16="http://schemas.microsoft.com/office/drawing/2014/main" id="{BC5289BD-392E-4F24-B920-95C65D4B08BC}"/>
                  </a:ext>
                </a:extLst>
              </p:cNvPr>
              <p:cNvSpPr/>
              <p:nvPr/>
            </p:nvSpPr>
            <p:spPr>
              <a:xfrm>
                <a:off x="3601141" y="-874427"/>
                <a:ext cx="13031584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16910833" h="5372100">
                    <a:moveTo>
                      <a:pt x="15360163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15360163" y="5372100"/>
                    </a:lnTo>
                    <a:lnTo>
                      <a:pt x="16910833" y="2686050"/>
                    </a:lnTo>
                    <a:lnTo>
                      <a:pt x="15360163" y="0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419" dirty="0"/>
              </a:p>
            </p:txBody>
          </p:sp>
        </p:grp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31CE9275-0C1C-4F07-B674-17ABBF41DB9F}"/>
                </a:ext>
              </a:extLst>
            </p:cNvPr>
            <p:cNvSpPr txBox="1"/>
            <p:nvPr/>
          </p:nvSpPr>
          <p:spPr>
            <a:xfrm>
              <a:off x="102735" y="225529"/>
              <a:ext cx="3299043" cy="915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b="1" spc="-77" dirty="0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Diagrama de actividades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552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BF9239-FC43-62EB-3548-1F0774B87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1" y="0"/>
            <a:ext cx="12217004" cy="687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77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688</Words>
  <Application>Microsoft Office PowerPoint</Application>
  <PresentationFormat>Panorámica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cuerpo</vt:lpstr>
      <vt:lpstr>Calibri Light</vt:lpstr>
      <vt:lpstr>Fira Sans Medium</vt:lpstr>
      <vt:lpstr>Fira Sans Semi-Bold</vt:lpstr>
      <vt:lpstr>Open Sauce</vt:lpstr>
      <vt:lpstr>Times New Roman</vt:lpstr>
      <vt:lpstr>Trebuchet MS</vt:lpstr>
      <vt:lpstr>Tw Cen MT</vt:lpstr>
      <vt:lpstr>Tema de Office</vt:lpstr>
      <vt:lpstr>Presentación de PowerPoint</vt:lpstr>
      <vt:lpstr>Objetivo </vt:lpstr>
      <vt:lpstr>Descripción de la problematica </vt:lpstr>
      <vt:lpstr>Planificación Scrum </vt:lpstr>
      <vt:lpstr>Product Backlog Priorizado </vt:lpstr>
      <vt:lpstr>Mapeo de procesos </vt:lpstr>
      <vt:lpstr>Modelo físico de la base de datos (diagrama)</vt:lpstr>
      <vt:lpstr> Arquitectura del sistema biblioteca</vt:lpstr>
      <vt:lpstr>Diagramas UML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Antonio Gutiérrez Rodríguez</dc:creator>
  <cp:lastModifiedBy>Eduardo Jesus Gudiel Gonzalez</cp:lastModifiedBy>
  <cp:revision>21</cp:revision>
  <cp:lastPrinted>2024-02-08T19:25:25Z</cp:lastPrinted>
  <dcterms:created xsi:type="dcterms:W3CDTF">2021-03-17T19:41:32Z</dcterms:created>
  <dcterms:modified xsi:type="dcterms:W3CDTF">2026-05-15T16:39:44Z</dcterms:modified>
</cp:coreProperties>
</file>